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4"/>
  </p:sldMasterIdLst>
  <p:notesMasterIdLst>
    <p:notesMasterId r:id="rId16"/>
  </p:notesMasterIdLst>
  <p:sldIdLst>
    <p:sldId id="256" r:id="rId5"/>
    <p:sldId id="257" r:id="rId6"/>
    <p:sldId id="259" r:id="rId7"/>
    <p:sldId id="260" r:id="rId8"/>
    <p:sldId id="261" r:id="rId9"/>
    <p:sldId id="262" r:id="rId10"/>
    <p:sldId id="265" r:id="rId11"/>
    <p:sldId id="266" r:id="rId12"/>
    <p:sldId id="264" r:id="rId13"/>
    <p:sldId id="263"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BE40EE-E994-4A06-AB44-E4738DE49A8B}" v="9" dt="2025-11-14T08:13:27.465"/>
    <p1510:client id="{D3A40B7A-EE28-4C6F-83F2-CF30329501B5}" v="1502" dt="2025-11-13T21:57:12.150"/>
    <p1510:client id="{D6E4BC99-EABE-442F-8611-CA8479184B41}" v="4729" dt="2025-11-14T00:42:05.2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642" autoAdjust="0"/>
  </p:normalViewPr>
  <p:slideViewPr>
    <p:cSldViewPr snapToGrid="0">
      <p:cViewPr varScale="1">
        <p:scale>
          <a:sx n="103" d="100"/>
          <a:sy n="103" d="100"/>
        </p:scale>
        <p:origin x="39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B806F2-B638-4F33-B2FA-9432CC8BAD9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D612DFF-6A03-4101-9DEB-EAA248A0F550}">
      <dgm:prSet/>
      <dgm:spPr/>
      <dgm:t>
        <a:bodyPr/>
        <a:lstStyle/>
        <a:p>
          <a:pPr>
            <a:lnSpc>
              <a:spcPct val="100000"/>
            </a:lnSpc>
          </a:pPr>
          <a:r>
            <a:rPr lang="en-GB" dirty="0" err="1"/>
            <a:t>Spoorsector</a:t>
          </a:r>
          <a:r>
            <a:rPr lang="en-GB" dirty="0"/>
            <a:t> </a:t>
          </a:r>
          <a:r>
            <a:rPr lang="en-GB" dirty="0" err="1"/>
            <a:t>meest</a:t>
          </a:r>
          <a:r>
            <a:rPr lang="en-GB" dirty="0"/>
            <a:t> </a:t>
          </a:r>
          <a:r>
            <a:rPr lang="en-GB" dirty="0" err="1"/>
            <a:t>weergevoelig</a:t>
          </a:r>
          <a:endParaRPr lang="en-US" dirty="0"/>
        </a:p>
      </dgm:t>
    </dgm:pt>
    <dgm:pt modelId="{213EE1E3-27B8-49A6-909C-D75174CE19C0}" type="parTrans" cxnId="{5044BCAE-6CC1-4300-B026-F5D0608CFF4E}">
      <dgm:prSet/>
      <dgm:spPr/>
      <dgm:t>
        <a:bodyPr/>
        <a:lstStyle/>
        <a:p>
          <a:endParaRPr lang="en-US"/>
        </a:p>
      </dgm:t>
    </dgm:pt>
    <dgm:pt modelId="{7E5FC5F0-4A6A-4336-8339-A158B4BA03D6}" type="sibTrans" cxnId="{5044BCAE-6CC1-4300-B026-F5D0608CFF4E}">
      <dgm:prSet/>
      <dgm:spPr/>
      <dgm:t>
        <a:bodyPr/>
        <a:lstStyle/>
        <a:p>
          <a:endParaRPr lang="en-US"/>
        </a:p>
      </dgm:t>
    </dgm:pt>
    <dgm:pt modelId="{A0A3CAD5-FCCD-4772-9623-7978B5A08CC0}">
      <dgm:prSet/>
      <dgm:spPr/>
      <dgm:t>
        <a:bodyPr/>
        <a:lstStyle/>
        <a:p>
          <a:pPr>
            <a:lnSpc>
              <a:spcPct val="100000"/>
            </a:lnSpc>
          </a:pPr>
          <a:r>
            <a:rPr lang="en-GB"/>
            <a:t>Hoge operationele impact bij hitte, storm en hevige neerslag</a:t>
          </a:r>
          <a:endParaRPr lang="en-US"/>
        </a:p>
      </dgm:t>
    </dgm:pt>
    <dgm:pt modelId="{B55D2B6E-E5D3-4684-9A9D-AC58B66F22B7}" type="parTrans" cxnId="{B859C0BC-6154-4F18-BD19-8D8E585F00CA}">
      <dgm:prSet/>
      <dgm:spPr/>
      <dgm:t>
        <a:bodyPr/>
        <a:lstStyle/>
        <a:p>
          <a:endParaRPr lang="en-US"/>
        </a:p>
      </dgm:t>
    </dgm:pt>
    <dgm:pt modelId="{0867160E-0F81-4F7F-A581-A324E4363D1A}" type="sibTrans" cxnId="{B859C0BC-6154-4F18-BD19-8D8E585F00CA}">
      <dgm:prSet/>
      <dgm:spPr/>
      <dgm:t>
        <a:bodyPr/>
        <a:lstStyle/>
        <a:p>
          <a:endParaRPr lang="en-US"/>
        </a:p>
      </dgm:t>
    </dgm:pt>
    <dgm:pt modelId="{0E04ADF6-CFD4-410A-BBD0-C0B512901A82}">
      <dgm:prSet/>
      <dgm:spPr/>
      <dgm:t>
        <a:bodyPr/>
        <a:lstStyle/>
        <a:p>
          <a:pPr>
            <a:lnSpc>
              <a:spcPct val="100000"/>
            </a:lnSpc>
          </a:pPr>
          <a:r>
            <a:rPr lang="en-GB"/>
            <a:t>Ontbreken van uniforme drempel-alerts</a:t>
          </a:r>
          <a:endParaRPr lang="en-US"/>
        </a:p>
      </dgm:t>
    </dgm:pt>
    <dgm:pt modelId="{1891E850-7A03-43AC-BED5-98E5518FDA6A}" type="parTrans" cxnId="{F02BD34F-0F00-4C87-9B7F-186ADBEA5C15}">
      <dgm:prSet/>
      <dgm:spPr/>
      <dgm:t>
        <a:bodyPr/>
        <a:lstStyle/>
        <a:p>
          <a:endParaRPr lang="en-US"/>
        </a:p>
      </dgm:t>
    </dgm:pt>
    <dgm:pt modelId="{42E5506B-4637-4C83-B569-FA97E926E3CD}" type="sibTrans" cxnId="{F02BD34F-0F00-4C87-9B7F-186ADBEA5C15}">
      <dgm:prSet/>
      <dgm:spPr/>
      <dgm:t>
        <a:bodyPr/>
        <a:lstStyle/>
        <a:p>
          <a:endParaRPr lang="en-US"/>
        </a:p>
      </dgm:t>
    </dgm:pt>
    <dgm:pt modelId="{5F04DD43-FB84-48EA-B4F3-854C8996FC52}">
      <dgm:prSet/>
      <dgm:spPr/>
      <dgm:t>
        <a:bodyPr/>
        <a:lstStyle/>
        <a:p>
          <a:pPr>
            <a:lnSpc>
              <a:spcPct val="100000"/>
            </a:lnSpc>
          </a:pPr>
          <a:r>
            <a:rPr lang="en-GB"/>
            <a:t>Grote maatschappelijke en logistieke relevantie</a:t>
          </a:r>
          <a:endParaRPr lang="en-US"/>
        </a:p>
      </dgm:t>
    </dgm:pt>
    <dgm:pt modelId="{681441A7-70A3-4635-ACE3-261F9EB5A953}" type="parTrans" cxnId="{8A7086ED-1886-4E2B-B0B5-E78E488446E6}">
      <dgm:prSet/>
      <dgm:spPr/>
      <dgm:t>
        <a:bodyPr/>
        <a:lstStyle/>
        <a:p>
          <a:endParaRPr lang="en-US"/>
        </a:p>
      </dgm:t>
    </dgm:pt>
    <dgm:pt modelId="{61657948-E83B-4133-9D54-DA56B0E325B0}" type="sibTrans" cxnId="{8A7086ED-1886-4E2B-B0B5-E78E488446E6}">
      <dgm:prSet/>
      <dgm:spPr/>
      <dgm:t>
        <a:bodyPr/>
        <a:lstStyle/>
        <a:p>
          <a:endParaRPr lang="en-US"/>
        </a:p>
      </dgm:t>
    </dgm:pt>
    <dgm:pt modelId="{826DD8DD-817F-4713-A3FC-BF970911F7F9}" type="pres">
      <dgm:prSet presAssocID="{09B806F2-B638-4F33-B2FA-9432CC8BAD92}" presName="root" presStyleCnt="0">
        <dgm:presLayoutVars>
          <dgm:dir/>
          <dgm:resizeHandles val="exact"/>
        </dgm:presLayoutVars>
      </dgm:prSet>
      <dgm:spPr/>
    </dgm:pt>
    <dgm:pt modelId="{935F5318-A647-48F3-8CD3-373DDB1953B4}" type="pres">
      <dgm:prSet presAssocID="{6D612DFF-6A03-4101-9DEB-EAA248A0F550}" presName="compNode" presStyleCnt="0"/>
      <dgm:spPr/>
    </dgm:pt>
    <dgm:pt modelId="{9147CF4B-DC76-439C-AA2E-F550AD862C82}" type="pres">
      <dgm:prSet presAssocID="{6D612DFF-6A03-4101-9DEB-EAA248A0F550}" presName="bgRect" presStyleLbl="bgShp" presStyleIdx="0" presStyleCnt="4"/>
      <dgm:spPr/>
    </dgm:pt>
    <dgm:pt modelId="{21D99EFE-B293-419E-99D0-F65396005AC5}" type="pres">
      <dgm:prSet presAssocID="{6D612DFF-6A03-4101-9DEB-EAA248A0F55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Vinkje"/>
        </a:ext>
      </dgm:extLst>
    </dgm:pt>
    <dgm:pt modelId="{36EFAB44-7928-4961-9B84-5292CEB995B4}" type="pres">
      <dgm:prSet presAssocID="{6D612DFF-6A03-4101-9DEB-EAA248A0F550}" presName="spaceRect" presStyleCnt="0"/>
      <dgm:spPr/>
    </dgm:pt>
    <dgm:pt modelId="{48DB9AB6-E2D5-4946-822D-0B116FBD7299}" type="pres">
      <dgm:prSet presAssocID="{6D612DFF-6A03-4101-9DEB-EAA248A0F550}" presName="parTx" presStyleLbl="revTx" presStyleIdx="0" presStyleCnt="4">
        <dgm:presLayoutVars>
          <dgm:chMax val="0"/>
          <dgm:chPref val="0"/>
        </dgm:presLayoutVars>
      </dgm:prSet>
      <dgm:spPr/>
    </dgm:pt>
    <dgm:pt modelId="{B5F71121-4B5D-4298-9BF0-FA72DAC4928F}" type="pres">
      <dgm:prSet presAssocID="{7E5FC5F0-4A6A-4336-8339-A158B4BA03D6}" presName="sibTrans" presStyleCnt="0"/>
      <dgm:spPr/>
    </dgm:pt>
    <dgm:pt modelId="{AB7E2F6F-44EB-4039-AA71-31E2DAFA8083}" type="pres">
      <dgm:prSet presAssocID="{A0A3CAD5-FCCD-4772-9623-7978B5A08CC0}" presName="compNode" presStyleCnt="0"/>
      <dgm:spPr/>
    </dgm:pt>
    <dgm:pt modelId="{7E7DE666-F4C5-4740-BC0D-5DEBCC070BB3}" type="pres">
      <dgm:prSet presAssocID="{A0A3CAD5-FCCD-4772-9623-7978B5A08CC0}" presName="bgRect" presStyleLbl="bgShp" presStyleIdx="1" presStyleCnt="4"/>
      <dgm:spPr/>
    </dgm:pt>
    <dgm:pt modelId="{FADE554B-978C-4C56-BDF6-B8F28E409399}" type="pres">
      <dgm:prSet presAssocID="{A0A3CAD5-FCCD-4772-9623-7978B5A08CC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egen"/>
        </a:ext>
      </dgm:extLst>
    </dgm:pt>
    <dgm:pt modelId="{7F41E23C-8C33-45B5-A9B6-4A1DA3577A73}" type="pres">
      <dgm:prSet presAssocID="{A0A3CAD5-FCCD-4772-9623-7978B5A08CC0}" presName="spaceRect" presStyleCnt="0"/>
      <dgm:spPr/>
    </dgm:pt>
    <dgm:pt modelId="{774C1687-C2F8-4D11-AF48-11FE1EA3FDDD}" type="pres">
      <dgm:prSet presAssocID="{A0A3CAD5-FCCD-4772-9623-7978B5A08CC0}" presName="parTx" presStyleLbl="revTx" presStyleIdx="1" presStyleCnt="4">
        <dgm:presLayoutVars>
          <dgm:chMax val="0"/>
          <dgm:chPref val="0"/>
        </dgm:presLayoutVars>
      </dgm:prSet>
      <dgm:spPr/>
    </dgm:pt>
    <dgm:pt modelId="{6815FBFE-0C77-4CF0-9F50-0420947DB1EE}" type="pres">
      <dgm:prSet presAssocID="{0867160E-0F81-4F7F-A581-A324E4363D1A}" presName="sibTrans" presStyleCnt="0"/>
      <dgm:spPr/>
    </dgm:pt>
    <dgm:pt modelId="{7B7A2CEA-1BEC-4D39-94C1-BFC376A54EAD}" type="pres">
      <dgm:prSet presAssocID="{0E04ADF6-CFD4-410A-BBD0-C0B512901A82}" presName="compNode" presStyleCnt="0"/>
      <dgm:spPr/>
    </dgm:pt>
    <dgm:pt modelId="{90E327AE-9CA3-450C-8012-047355EFC336}" type="pres">
      <dgm:prSet presAssocID="{0E04ADF6-CFD4-410A-BBD0-C0B512901A82}" presName="bgRect" presStyleLbl="bgShp" presStyleIdx="2" presStyleCnt="4"/>
      <dgm:spPr/>
    </dgm:pt>
    <dgm:pt modelId="{520DE08D-4195-431E-AD3C-19948F82B6CF}" type="pres">
      <dgm:prSet presAssocID="{0E04ADF6-CFD4-410A-BBD0-C0B512901A8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aarschuwing"/>
        </a:ext>
      </dgm:extLst>
    </dgm:pt>
    <dgm:pt modelId="{72803B0A-9E73-49EA-A46E-0F57F7F994FD}" type="pres">
      <dgm:prSet presAssocID="{0E04ADF6-CFD4-410A-BBD0-C0B512901A82}" presName="spaceRect" presStyleCnt="0"/>
      <dgm:spPr/>
    </dgm:pt>
    <dgm:pt modelId="{6E72C11C-0941-4F26-B56F-7C980985DBC7}" type="pres">
      <dgm:prSet presAssocID="{0E04ADF6-CFD4-410A-BBD0-C0B512901A82}" presName="parTx" presStyleLbl="revTx" presStyleIdx="2" presStyleCnt="4">
        <dgm:presLayoutVars>
          <dgm:chMax val="0"/>
          <dgm:chPref val="0"/>
        </dgm:presLayoutVars>
      </dgm:prSet>
      <dgm:spPr/>
    </dgm:pt>
    <dgm:pt modelId="{B95C4B3A-4810-4094-A717-64BB4D4AEDA7}" type="pres">
      <dgm:prSet presAssocID="{42E5506B-4637-4C83-B569-FA97E926E3CD}" presName="sibTrans" presStyleCnt="0"/>
      <dgm:spPr/>
    </dgm:pt>
    <dgm:pt modelId="{E8D70F6C-7E83-43A0-BA2B-CF1F28BC813E}" type="pres">
      <dgm:prSet presAssocID="{5F04DD43-FB84-48EA-B4F3-854C8996FC52}" presName="compNode" presStyleCnt="0"/>
      <dgm:spPr/>
    </dgm:pt>
    <dgm:pt modelId="{3A19845E-559A-43D4-AFEC-FCA6ED62BDDE}" type="pres">
      <dgm:prSet presAssocID="{5F04DD43-FB84-48EA-B4F3-854C8996FC52}" presName="bgRect" presStyleLbl="bgShp" presStyleIdx="3" presStyleCnt="4"/>
      <dgm:spPr/>
    </dgm:pt>
    <dgm:pt modelId="{6B0CECCD-0958-4CA1-B871-8F9420323653}" type="pres">
      <dgm:prSet presAssocID="{5F04DD43-FB84-48EA-B4F3-854C8996FC5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arkering"/>
        </a:ext>
      </dgm:extLst>
    </dgm:pt>
    <dgm:pt modelId="{B1A6364F-53E9-4673-89B7-9BA337C95E5C}" type="pres">
      <dgm:prSet presAssocID="{5F04DD43-FB84-48EA-B4F3-854C8996FC52}" presName="spaceRect" presStyleCnt="0"/>
      <dgm:spPr/>
    </dgm:pt>
    <dgm:pt modelId="{6ABCAB84-7958-461B-97DF-2ED3ED5A651E}" type="pres">
      <dgm:prSet presAssocID="{5F04DD43-FB84-48EA-B4F3-854C8996FC52}" presName="parTx" presStyleLbl="revTx" presStyleIdx="3" presStyleCnt="4">
        <dgm:presLayoutVars>
          <dgm:chMax val="0"/>
          <dgm:chPref val="0"/>
        </dgm:presLayoutVars>
      </dgm:prSet>
      <dgm:spPr/>
    </dgm:pt>
  </dgm:ptLst>
  <dgm:cxnLst>
    <dgm:cxn modelId="{6B909E1B-D1C4-4258-B90A-DA88A5FE4491}" type="presOf" srcId="{09B806F2-B638-4F33-B2FA-9432CC8BAD92}" destId="{826DD8DD-817F-4713-A3FC-BF970911F7F9}" srcOrd="0" destOrd="0" presId="urn:microsoft.com/office/officeart/2018/2/layout/IconVerticalSolidList"/>
    <dgm:cxn modelId="{03889A2F-6645-459B-8379-6CBE584BFFD2}" type="presOf" srcId="{6D612DFF-6A03-4101-9DEB-EAA248A0F550}" destId="{48DB9AB6-E2D5-4946-822D-0B116FBD7299}" srcOrd="0" destOrd="0" presId="urn:microsoft.com/office/officeart/2018/2/layout/IconVerticalSolidList"/>
    <dgm:cxn modelId="{F02BD34F-0F00-4C87-9B7F-186ADBEA5C15}" srcId="{09B806F2-B638-4F33-B2FA-9432CC8BAD92}" destId="{0E04ADF6-CFD4-410A-BBD0-C0B512901A82}" srcOrd="2" destOrd="0" parTransId="{1891E850-7A03-43AC-BED5-98E5518FDA6A}" sibTransId="{42E5506B-4637-4C83-B569-FA97E926E3CD}"/>
    <dgm:cxn modelId="{5524277E-08D3-4C9C-BC8F-A6EEDF1FED06}" type="presOf" srcId="{A0A3CAD5-FCCD-4772-9623-7978B5A08CC0}" destId="{774C1687-C2F8-4D11-AF48-11FE1EA3FDDD}" srcOrd="0" destOrd="0" presId="urn:microsoft.com/office/officeart/2018/2/layout/IconVerticalSolidList"/>
    <dgm:cxn modelId="{5044BCAE-6CC1-4300-B026-F5D0608CFF4E}" srcId="{09B806F2-B638-4F33-B2FA-9432CC8BAD92}" destId="{6D612DFF-6A03-4101-9DEB-EAA248A0F550}" srcOrd="0" destOrd="0" parTransId="{213EE1E3-27B8-49A6-909C-D75174CE19C0}" sibTransId="{7E5FC5F0-4A6A-4336-8339-A158B4BA03D6}"/>
    <dgm:cxn modelId="{B859C0BC-6154-4F18-BD19-8D8E585F00CA}" srcId="{09B806F2-B638-4F33-B2FA-9432CC8BAD92}" destId="{A0A3CAD5-FCCD-4772-9623-7978B5A08CC0}" srcOrd="1" destOrd="0" parTransId="{B55D2B6E-E5D3-4684-9A9D-AC58B66F22B7}" sibTransId="{0867160E-0F81-4F7F-A581-A324E4363D1A}"/>
    <dgm:cxn modelId="{D5D03FEA-E237-4586-A792-15523291880D}" type="presOf" srcId="{0E04ADF6-CFD4-410A-BBD0-C0B512901A82}" destId="{6E72C11C-0941-4F26-B56F-7C980985DBC7}" srcOrd="0" destOrd="0" presId="urn:microsoft.com/office/officeart/2018/2/layout/IconVerticalSolidList"/>
    <dgm:cxn modelId="{8A7086ED-1886-4E2B-B0B5-E78E488446E6}" srcId="{09B806F2-B638-4F33-B2FA-9432CC8BAD92}" destId="{5F04DD43-FB84-48EA-B4F3-854C8996FC52}" srcOrd="3" destOrd="0" parTransId="{681441A7-70A3-4635-ACE3-261F9EB5A953}" sibTransId="{61657948-E83B-4133-9D54-DA56B0E325B0}"/>
    <dgm:cxn modelId="{1C1B85FB-894C-479B-927A-4B6DCD611A0B}" type="presOf" srcId="{5F04DD43-FB84-48EA-B4F3-854C8996FC52}" destId="{6ABCAB84-7958-461B-97DF-2ED3ED5A651E}" srcOrd="0" destOrd="0" presId="urn:microsoft.com/office/officeart/2018/2/layout/IconVerticalSolidList"/>
    <dgm:cxn modelId="{6DCA9288-8FE3-4DAC-9E04-B67705574705}" type="presParOf" srcId="{826DD8DD-817F-4713-A3FC-BF970911F7F9}" destId="{935F5318-A647-48F3-8CD3-373DDB1953B4}" srcOrd="0" destOrd="0" presId="urn:microsoft.com/office/officeart/2018/2/layout/IconVerticalSolidList"/>
    <dgm:cxn modelId="{E7F32928-9784-4FB3-951B-6FDD1242EA5F}" type="presParOf" srcId="{935F5318-A647-48F3-8CD3-373DDB1953B4}" destId="{9147CF4B-DC76-439C-AA2E-F550AD862C82}" srcOrd="0" destOrd="0" presId="urn:microsoft.com/office/officeart/2018/2/layout/IconVerticalSolidList"/>
    <dgm:cxn modelId="{D7FCEBFF-F480-437F-9285-92C4FC3DE657}" type="presParOf" srcId="{935F5318-A647-48F3-8CD3-373DDB1953B4}" destId="{21D99EFE-B293-419E-99D0-F65396005AC5}" srcOrd="1" destOrd="0" presId="urn:microsoft.com/office/officeart/2018/2/layout/IconVerticalSolidList"/>
    <dgm:cxn modelId="{FBA2C1FB-BB02-44BE-93BA-7F1135485C78}" type="presParOf" srcId="{935F5318-A647-48F3-8CD3-373DDB1953B4}" destId="{36EFAB44-7928-4961-9B84-5292CEB995B4}" srcOrd="2" destOrd="0" presId="urn:microsoft.com/office/officeart/2018/2/layout/IconVerticalSolidList"/>
    <dgm:cxn modelId="{EC717013-A8E4-4174-959D-0FC2A51931AD}" type="presParOf" srcId="{935F5318-A647-48F3-8CD3-373DDB1953B4}" destId="{48DB9AB6-E2D5-4946-822D-0B116FBD7299}" srcOrd="3" destOrd="0" presId="urn:microsoft.com/office/officeart/2018/2/layout/IconVerticalSolidList"/>
    <dgm:cxn modelId="{07627364-E2C8-4A27-A4D6-2084DEA3C96F}" type="presParOf" srcId="{826DD8DD-817F-4713-A3FC-BF970911F7F9}" destId="{B5F71121-4B5D-4298-9BF0-FA72DAC4928F}" srcOrd="1" destOrd="0" presId="urn:microsoft.com/office/officeart/2018/2/layout/IconVerticalSolidList"/>
    <dgm:cxn modelId="{58B3C4E0-2B7D-4920-BE3A-EFAD066B69AE}" type="presParOf" srcId="{826DD8DD-817F-4713-A3FC-BF970911F7F9}" destId="{AB7E2F6F-44EB-4039-AA71-31E2DAFA8083}" srcOrd="2" destOrd="0" presId="urn:microsoft.com/office/officeart/2018/2/layout/IconVerticalSolidList"/>
    <dgm:cxn modelId="{B5D48B3F-8F3C-4175-8D37-BF2CB6800B9B}" type="presParOf" srcId="{AB7E2F6F-44EB-4039-AA71-31E2DAFA8083}" destId="{7E7DE666-F4C5-4740-BC0D-5DEBCC070BB3}" srcOrd="0" destOrd="0" presId="urn:microsoft.com/office/officeart/2018/2/layout/IconVerticalSolidList"/>
    <dgm:cxn modelId="{F25C2D13-9F8A-47C2-A62E-1EC868A471D3}" type="presParOf" srcId="{AB7E2F6F-44EB-4039-AA71-31E2DAFA8083}" destId="{FADE554B-978C-4C56-BDF6-B8F28E409399}" srcOrd="1" destOrd="0" presId="urn:microsoft.com/office/officeart/2018/2/layout/IconVerticalSolidList"/>
    <dgm:cxn modelId="{9EB35EFD-EF6C-493E-B326-A28B5D83BF8E}" type="presParOf" srcId="{AB7E2F6F-44EB-4039-AA71-31E2DAFA8083}" destId="{7F41E23C-8C33-45B5-A9B6-4A1DA3577A73}" srcOrd="2" destOrd="0" presId="urn:microsoft.com/office/officeart/2018/2/layout/IconVerticalSolidList"/>
    <dgm:cxn modelId="{CE033308-D3BB-42A0-ADAF-DC9D4C5D0795}" type="presParOf" srcId="{AB7E2F6F-44EB-4039-AA71-31E2DAFA8083}" destId="{774C1687-C2F8-4D11-AF48-11FE1EA3FDDD}" srcOrd="3" destOrd="0" presId="urn:microsoft.com/office/officeart/2018/2/layout/IconVerticalSolidList"/>
    <dgm:cxn modelId="{36F0B793-0F1B-4245-8A11-2C722712C24A}" type="presParOf" srcId="{826DD8DD-817F-4713-A3FC-BF970911F7F9}" destId="{6815FBFE-0C77-4CF0-9F50-0420947DB1EE}" srcOrd="3" destOrd="0" presId="urn:microsoft.com/office/officeart/2018/2/layout/IconVerticalSolidList"/>
    <dgm:cxn modelId="{DE5A8A86-6B5D-4F48-BAE7-2D09E7007286}" type="presParOf" srcId="{826DD8DD-817F-4713-A3FC-BF970911F7F9}" destId="{7B7A2CEA-1BEC-4D39-94C1-BFC376A54EAD}" srcOrd="4" destOrd="0" presId="urn:microsoft.com/office/officeart/2018/2/layout/IconVerticalSolidList"/>
    <dgm:cxn modelId="{B38FC02B-B547-4EA6-B77B-9A7F69D5F398}" type="presParOf" srcId="{7B7A2CEA-1BEC-4D39-94C1-BFC376A54EAD}" destId="{90E327AE-9CA3-450C-8012-047355EFC336}" srcOrd="0" destOrd="0" presId="urn:microsoft.com/office/officeart/2018/2/layout/IconVerticalSolidList"/>
    <dgm:cxn modelId="{21512F14-46C4-4C80-B915-CCF6556FE21D}" type="presParOf" srcId="{7B7A2CEA-1BEC-4D39-94C1-BFC376A54EAD}" destId="{520DE08D-4195-431E-AD3C-19948F82B6CF}" srcOrd="1" destOrd="0" presId="urn:microsoft.com/office/officeart/2018/2/layout/IconVerticalSolidList"/>
    <dgm:cxn modelId="{8491CD73-779E-4152-8CA0-3D12040666CF}" type="presParOf" srcId="{7B7A2CEA-1BEC-4D39-94C1-BFC376A54EAD}" destId="{72803B0A-9E73-49EA-A46E-0F57F7F994FD}" srcOrd="2" destOrd="0" presId="urn:microsoft.com/office/officeart/2018/2/layout/IconVerticalSolidList"/>
    <dgm:cxn modelId="{C9BCF1B1-16CE-4372-BAB9-DE46DF49202F}" type="presParOf" srcId="{7B7A2CEA-1BEC-4D39-94C1-BFC376A54EAD}" destId="{6E72C11C-0941-4F26-B56F-7C980985DBC7}" srcOrd="3" destOrd="0" presId="urn:microsoft.com/office/officeart/2018/2/layout/IconVerticalSolidList"/>
    <dgm:cxn modelId="{D28DEE07-4216-42FA-8AC8-DE05AE766414}" type="presParOf" srcId="{826DD8DD-817F-4713-A3FC-BF970911F7F9}" destId="{B95C4B3A-4810-4094-A717-64BB4D4AEDA7}" srcOrd="5" destOrd="0" presId="urn:microsoft.com/office/officeart/2018/2/layout/IconVerticalSolidList"/>
    <dgm:cxn modelId="{4BE9C6F7-D1FD-43EB-8608-743BC8FA3E31}" type="presParOf" srcId="{826DD8DD-817F-4713-A3FC-BF970911F7F9}" destId="{E8D70F6C-7E83-43A0-BA2B-CF1F28BC813E}" srcOrd="6" destOrd="0" presId="urn:microsoft.com/office/officeart/2018/2/layout/IconVerticalSolidList"/>
    <dgm:cxn modelId="{37A74F7D-3665-407B-97EE-39A8D9BA7550}" type="presParOf" srcId="{E8D70F6C-7E83-43A0-BA2B-CF1F28BC813E}" destId="{3A19845E-559A-43D4-AFEC-FCA6ED62BDDE}" srcOrd="0" destOrd="0" presId="urn:microsoft.com/office/officeart/2018/2/layout/IconVerticalSolidList"/>
    <dgm:cxn modelId="{6531C8B6-8F5C-4A95-8A40-DF2956F87A76}" type="presParOf" srcId="{E8D70F6C-7E83-43A0-BA2B-CF1F28BC813E}" destId="{6B0CECCD-0958-4CA1-B871-8F9420323653}" srcOrd="1" destOrd="0" presId="urn:microsoft.com/office/officeart/2018/2/layout/IconVerticalSolidList"/>
    <dgm:cxn modelId="{7FE5AD26-955C-4520-9F01-E32403C898A3}" type="presParOf" srcId="{E8D70F6C-7E83-43A0-BA2B-CF1F28BC813E}" destId="{B1A6364F-53E9-4673-89B7-9BA337C95E5C}" srcOrd="2" destOrd="0" presId="urn:microsoft.com/office/officeart/2018/2/layout/IconVerticalSolidList"/>
    <dgm:cxn modelId="{4536DA0D-3907-4964-9AD8-9CC938432B37}" type="presParOf" srcId="{E8D70F6C-7E83-43A0-BA2B-CF1F28BC813E}" destId="{6ABCAB84-7958-461B-97DF-2ED3ED5A651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3A638D-3E02-43D7-9A8C-D46BB2F00C0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C5E6B73-6C47-49D8-80E5-135CD8ACFBAB}">
      <dgm:prSet/>
      <dgm:spPr/>
      <dgm:t>
        <a:bodyPr/>
        <a:lstStyle/>
        <a:p>
          <a:pPr>
            <a:lnSpc>
              <a:spcPct val="100000"/>
            </a:lnSpc>
          </a:pPr>
          <a:r>
            <a:rPr lang="nl-NL"/>
            <a:t>Technische keuzes beoordeeld door peers</a:t>
          </a:r>
          <a:endParaRPr lang="en-US"/>
        </a:p>
      </dgm:t>
    </dgm:pt>
    <dgm:pt modelId="{627699DA-B454-4AF1-8875-9781B67F441D}" type="parTrans" cxnId="{EC7A321D-828F-4DFE-9FCB-003AA9EF5E25}">
      <dgm:prSet/>
      <dgm:spPr/>
      <dgm:t>
        <a:bodyPr/>
        <a:lstStyle/>
        <a:p>
          <a:endParaRPr lang="en-US"/>
        </a:p>
      </dgm:t>
    </dgm:pt>
    <dgm:pt modelId="{1661E1D4-6BEF-43EC-8B6C-AE6C3596EC14}" type="sibTrans" cxnId="{EC7A321D-828F-4DFE-9FCB-003AA9EF5E25}">
      <dgm:prSet/>
      <dgm:spPr/>
      <dgm:t>
        <a:bodyPr/>
        <a:lstStyle/>
        <a:p>
          <a:endParaRPr lang="en-US"/>
        </a:p>
      </dgm:t>
    </dgm:pt>
    <dgm:pt modelId="{C7545673-1B97-4888-8B2E-B235E7B847A0}">
      <dgm:prSet/>
      <dgm:spPr/>
      <dgm:t>
        <a:bodyPr/>
        <a:lstStyle/>
        <a:p>
          <a:pPr>
            <a:lnSpc>
              <a:spcPct val="100000"/>
            </a:lnSpc>
          </a:pPr>
          <a:r>
            <a:rPr lang="nl-NL" dirty="0" err="1"/>
            <a:t>Proof</a:t>
          </a:r>
          <a:r>
            <a:rPr lang="nl-NL" dirty="0"/>
            <a:t> of Concept bevestigt real-time integratie mogelijk</a:t>
          </a:r>
          <a:endParaRPr lang="en-US" dirty="0"/>
        </a:p>
      </dgm:t>
    </dgm:pt>
    <dgm:pt modelId="{B7A8730A-9959-4E70-AFE4-4B9B9E0BB86D}" type="parTrans" cxnId="{5478F24F-4999-4612-829C-3DA71FE2CAE3}">
      <dgm:prSet/>
      <dgm:spPr/>
      <dgm:t>
        <a:bodyPr/>
        <a:lstStyle/>
        <a:p>
          <a:endParaRPr lang="en-US"/>
        </a:p>
      </dgm:t>
    </dgm:pt>
    <dgm:pt modelId="{334F57BF-19F4-46AB-AE4F-6CC0067B6D28}" type="sibTrans" cxnId="{5478F24F-4999-4612-829C-3DA71FE2CAE3}">
      <dgm:prSet/>
      <dgm:spPr/>
      <dgm:t>
        <a:bodyPr/>
        <a:lstStyle/>
        <a:p>
          <a:endParaRPr lang="en-US"/>
        </a:p>
      </dgm:t>
    </dgm:pt>
    <dgm:pt modelId="{F5C3BC09-AAE3-4323-8566-3916BB4956A7}">
      <dgm:prSet/>
      <dgm:spPr/>
      <dgm:t>
        <a:bodyPr/>
        <a:lstStyle/>
        <a:p>
          <a:pPr>
            <a:lnSpc>
              <a:spcPct val="100000"/>
            </a:lnSpc>
          </a:pPr>
          <a:r>
            <a:rPr lang="nl-NL"/>
            <a:t>Alerts sluiten aan op operationele processen</a:t>
          </a:r>
          <a:endParaRPr lang="en-US"/>
        </a:p>
      </dgm:t>
    </dgm:pt>
    <dgm:pt modelId="{87694DBA-BC58-4D59-9E49-626FBBF2A818}" type="parTrans" cxnId="{D18DA2F8-002D-4AF8-906A-420F57B20E26}">
      <dgm:prSet/>
      <dgm:spPr/>
      <dgm:t>
        <a:bodyPr/>
        <a:lstStyle/>
        <a:p>
          <a:endParaRPr lang="en-US"/>
        </a:p>
      </dgm:t>
    </dgm:pt>
    <dgm:pt modelId="{1F74F72A-3869-4086-94AC-8099300C59DC}" type="sibTrans" cxnId="{D18DA2F8-002D-4AF8-906A-420F57B20E26}">
      <dgm:prSet/>
      <dgm:spPr/>
      <dgm:t>
        <a:bodyPr/>
        <a:lstStyle/>
        <a:p>
          <a:endParaRPr lang="en-US"/>
        </a:p>
      </dgm:t>
    </dgm:pt>
    <dgm:pt modelId="{18026201-9D95-4EE8-8DBE-761D490ACA60}">
      <dgm:prSet/>
      <dgm:spPr/>
      <dgm:t>
        <a:bodyPr/>
        <a:lstStyle/>
        <a:p>
          <a:pPr>
            <a:lnSpc>
              <a:spcPct val="100000"/>
            </a:lnSpc>
          </a:pPr>
          <a:r>
            <a:rPr lang="nl-NL"/>
            <a:t>Identificeert risico’s: sensordata, betrouwbaarheid, open-data afhankelijkheid</a:t>
          </a:r>
          <a:endParaRPr lang="en-US"/>
        </a:p>
      </dgm:t>
    </dgm:pt>
    <dgm:pt modelId="{A397CA92-8BB1-49FE-82C7-95DE34E3809C}" type="parTrans" cxnId="{029BA40F-F593-40E0-9BE5-7E430A4FF69A}">
      <dgm:prSet/>
      <dgm:spPr/>
      <dgm:t>
        <a:bodyPr/>
        <a:lstStyle/>
        <a:p>
          <a:endParaRPr lang="en-US"/>
        </a:p>
      </dgm:t>
    </dgm:pt>
    <dgm:pt modelId="{DEC2A72B-0A58-45A0-9BEE-F802F251AF6A}" type="sibTrans" cxnId="{029BA40F-F593-40E0-9BE5-7E430A4FF69A}">
      <dgm:prSet/>
      <dgm:spPr/>
      <dgm:t>
        <a:bodyPr/>
        <a:lstStyle/>
        <a:p>
          <a:endParaRPr lang="en-US"/>
        </a:p>
      </dgm:t>
    </dgm:pt>
    <dgm:pt modelId="{A7FD30C8-92D3-4B4F-84D4-1DC4D3D867FE}" type="pres">
      <dgm:prSet presAssocID="{B53A638D-3E02-43D7-9A8C-D46BB2F00C00}" presName="linear" presStyleCnt="0">
        <dgm:presLayoutVars>
          <dgm:animLvl val="lvl"/>
          <dgm:resizeHandles val="exact"/>
        </dgm:presLayoutVars>
      </dgm:prSet>
      <dgm:spPr/>
    </dgm:pt>
    <dgm:pt modelId="{6B4B75BD-CA5C-4EFE-9EF3-E0B48E97E8BC}" type="pres">
      <dgm:prSet presAssocID="{AC5E6B73-6C47-49D8-80E5-135CD8ACFBAB}" presName="parentText" presStyleLbl="node1" presStyleIdx="0" presStyleCnt="4">
        <dgm:presLayoutVars>
          <dgm:chMax val="0"/>
          <dgm:bulletEnabled val="1"/>
        </dgm:presLayoutVars>
      </dgm:prSet>
      <dgm:spPr/>
    </dgm:pt>
    <dgm:pt modelId="{315A02B0-4AA6-49DD-B0DC-9AF6FB359DED}" type="pres">
      <dgm:prSet presAssocID="{1661E1D4-6BEF-43EC-8B6C-AE6C3596EC14}" presName="spacer" presStyleCnt="0"/>
      <dgm:spPr/>
    </dgm:pt>
    <dgm:pt modelId="{01E3EADB-1589-44BB-A585-D8EFEE7E9E71}" type="pres">
      <dgm:prSet presAssocID="{C7545673-1B97-4888-8B2E-B235E7B847A0}" presName="parentText" presStyleLbl="node1" presStyleIdx="1" presStyleCnt="4">
        <dgm:presLayoutVars>
          <dgm:chMax val="0"/>
          <dgm:bulletEnabled val="1"/>
        </dgm:presLayoutVars>
      </dgm:prSet>
      <dgm:spPr/>
    </dgm:pt>
    <dgm:pt modelId="{EF04A5AA-1263-44E2-9D65-EDDBB26B139C}" type="pres">
      <dgm:prSet presAssocID="{334F57BF-19F4-46AB-AE4F-6CC0067B6D28}" presName="spacer" presStyleCnt="0"/>
      <dgm:spPr/>
    </dgm:pt>
    <dgm:pt modelId="{B7CBEB1E-417C-4062-8F8C-884EBCD02BF5}" type="pres">
      <dgm:prSet presAssocID="{F5C3BC09-AAE3-4323-8566-3916BB4956A7}" presName="parentText" presStyleLbl="node1" presStyleIdx="2" presStyleCnt="4">
        <dgm:presLayoutVars>
          <dgm:chMax val="0"/>
          <dgm:bulletEnabled val="1"/>
        </dgm:presLayoutVars>
      </dgm:prSet>
      <dgm:spPr/>
    </dgm:pt>
    <dgm:pt modelId="{8E352AAA-5952-473A-9B61-B264557D711F}" type="pres">
      <dgm:prSet presAssocID="{1F74F72A-3869-4086-94AC-8099300C59DC}" presName="spacer" presStyleCnt="0"/>
      <dgm:spPr/>
    </dgm:pt>
    <dgm:pt modelId="{C1C992C4-0026-49CB-AB10-65850F7CFAFC}" type="pres">
      <dgm:prSet presAssocID="{18026201-9D95-4EE8-8DBE-761D490ACA60}" presName="parentText" presStyleLbl="node1" presStyleIdx="3" presStyleCnt="4">
        <dgm:presLayoutVars>
          <dgm:chMax val="0"/>
          <dgm:bulletEnabled val="1"/>
        </dgm:presLayoutVars>
      </dgm:prSet>
      <dgm:spPr/>
    </dgm:pt>
  </dgm:ptLst>
  <dgm:cxnLst>
    <dgm:cxn modelId="{029BA40F-F593-40E0-9BE5-7E430A4FF69A}" srcId="{B53A638D-3E02-43D7-9A8C-D46BB2F00C00}" destId="{18026201-9D95-4EE8-8DBE-761D490ACA60}" srcOrd="3" destOrd="0" parTransId="{A397CA92-8BB1-49FE-82C7-95DE34E3809C}" sibTransId="{DEC2A72B-0A58-45A0-9BEE-F802F251AF6A}"/>
    <dgm:cxn modelId="{B0ACAD10-D079-4541-A3D4-F42545B37439}" type="presOf" srcId="{18026201-9D95-4EE8-8DBE-761D490ACA60}" destId="{C1C992C4-0026-49CB-AB10-65850F7CFAFC}" srcOrd="0" destOrd="0" presId="urn:microsoft.com/office/officeart/2005/8/layout/vList2"/>
    <dgm:cxn modelId="{BBB14219-E163-4824-AC6E-F2A4591D3CE6}" type="presOf" srcId="{B53A638D-3E02-43D7-9A8C-D46BB2F00C00}" destId="{A7FD30C8-92D3-4B4F-84D4-1DC4D3D867FE}" srcOrd="0" destOrd="0" presId="urn:microsoft.com/office/officeart/2005/8/layout/vList2"/>
    <dgm:cxn modelId="{EC7A321D-828F-4DFE-9FCB-003AA9EF5E25}" srcId="{B53A638D-3E02-43D7-9A8C-D46BB2F00C00}" destId="{AC5E6B73-6C47-49D8-80E5-135CD8ACFBAB}" srcOrd="0" destOrd="0" parTransId="{627699DA-B454-4AF1-8875-9781B67F441D}" sibTransId="{1661E1D4-6BEF-43EC-8B6C-AE6C3596EC14}"/>
    <dgm:cxn modelId="{5478F24F-4999-4612-829C-3DA71FE2CAE3}" srcId="{B53A638D-3E02-43D7-9A8C-D46BB2F00C00}" destId="{C7545673-1B97-4888-8B2E-B235E7B847A0}" srcOrd="1" destOrd="0" parTransId="{B7A8730A-9959-4E70-AFE4-4B9B9E0BB86D}" sibTransId="{334F57BF-19F4-46AB-AE4F-6CC0067B6D28}"/>
    <dgm:cxn modelId="{DDB8B1A6-781E-4AB1-B066-AA574FBE017A}" type="presOf" srcId="{C7545673-1B97-4888-8B2E-B235E7B847A0}" destId="{01E3EADB-1589-44BB-A585-D8EFEE7E9E71}" srcOrd="0" destOrd="0" presId="urn:microsoft.com/office/officeart/2005/8/layout/vList2"/>
    <dgm:cxn modelId="{B3A3EDB9-EA66-4519-8AC5-81840434AA4D}" type="presOf" srcId="{F5C3BC09-AAE3-4323-8566-3916BB4956A7}" destId="{B7CBEB1E-417C-4062-8F8C-884EBCD02BF5}" srcOrd="0" destOrd="0" presId="urn:microsoft.com/office/officeart/2005/8/layout/vList2"/>
    <dgm:cxn modelId="{A9D341BB-5A7E-426E-B57F-AA29DDF7194D}" type="presOf" srcId="{AC5E6B73-6C47-49D8-80E5-135CD8ACFBAB}" destId="{6B4B75BD-CA5C-4EFE-9EF3-E0B48E97E8BC}" srcOrd="0" destOrd="0" presId="urn:microsoft.com/office/officeart/2005/8/layout/vList2"/>
    <dgm:cxn modelId="{D18DA2F8-002D-4AF8-906A-420F57B20E26}" srcId="{B53A638D-3E02-43D7-9A8C-D46BB2F00C00}" destId="{F5C3BC09-AAE3-4323-8566-3916BB4956A7}" srcOrd="2" destOrd="0" parTransId="{87694DBA-BC58-4D59-9E49-626FBBF2A818}" sibTransId="{1F74F72A-3869-4086-94AC-8099300C59DC}"/>
    <dgm:cxn modelId="{63DF4130-7320-40D2-A891-B8744EF4CFC5}" type="presParOf" srcId="{A7FD30C8-92D3-4B4F-84D4-1DC4D3D867FE}" destId="{6B4B75BD-CA5C-4EFE-9EF3-E0B48E97E8BC}" srcOrd="0" destOrd="0" presId="urn:microsoft.com/office/officeart/2005/8/layout/vList2"/>
    <dgm:cxn modelId="{D8C98B75-36FA-4F7E-849E-0A63BF7FA0A8}" type="presParOf" srcId="{A7FD30C8-92D3-4B4F-84D4-1DC4D3D867FE}" destId="{315A02B0-4AA6-49DD-B0DC-9AF6FB359DED}" srcOrd="1" destOrd="0" presId="urn:microsoft.com/office/officeart/2005/8/layout/vList2"/>
    <dgm:cxn modelId="{4E2ABB03-4C76-4F73-ADB4-4F7FCD13851F}" type="presParOf" srcId="{A7FD30C8-92D3-4B4F-84D4-1DC4D3D867FE}" destId="{01E3EADB-1589-44BB-A585-D8EFEE7E9E71}" srcOrd="2" destOrd="0" presId="urn:microsoft.com/office/officeart/2005/8/layout/vList2"/>
    <dgm:cxn modelId="{6EFA1BCB-B1BC-4C1E-B3E6-4FD61C8ABC73}" type="presParOf" srcId="{A7FD30C8-92D3-4B4F-84D4-1DC4D3D867FE}" destId="{EF04A5AA-1263-44E2-9D65-EDDBB26B139C}" srcOrd="3" destOrd="0" presId="urn:microsoft.com/office/officeart/2005/8/layout/vList2"/>
    <dgm:cxn modelId="{5BE19902-76CD-4D15-9419-3C89E12AE4AC}" type="presParOf" srcId="{A7FD30C8-92D3-4B4F-84D4-1DC4D3D867FE}" destId="{B7CBEB1E-417C-4062-8F8C-884EBCD02BF5}" srcOrd="4" destOrd="0" presId="urn:microsoft.com/office/officeart/2005/8/layout/vList2"/>
    <dgm:cxn modelId="{66B17BD7-9C91-4030-B9D8-C3846FDCB530}" type="presParOf" srcId="{A7FD30C8-92D3-4B4F-84D4-1DC4D3D867FE}" destId="{8E352AAA-5952-473A-9B61-B264557D711F}" srcOrd="5" destOrd="0" presId="urn:microsoft.com/office/officeart/2005/8/layout/vList2"/>
    <dgm:cxn modelId="{10661C25-1CA7-4C6D-8874-7F9E939354A5}" type="presParOf" srcId="{A7FD30C8-92D3-4B4F-84D4-1DC4D3D867FE}" destId="{C1C992C4-0026-49CB-AB10-65850F7CFAFC}" srcOrd="6"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7CF4B-DC76-439C-AA2E-F550AD862C82}">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D99EFE-B293-419E-99D0-F65396005AC5}">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DB9AB6-E2D5-4946-822D-0B116FBD7299}">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GB" sz="2200" kern="1200" dirty="0" err="1"/>
            <a:t>Spoorsector</a:t>
          </a:r>
          <a:r>
            <a:rPr lang="en-GB" sz="2200" kern="1200" dirty="0"/>
            <a:t> </a:t>
          </a:r>
          <a:r>
            <a:rPr lang="en-GB" sz="2200" kern="1200" dirty="0" err="1"/>
            <a:t>meest</a:t>
          </a:r>
          <a:r>
            <a:rPr lang="en-GB" sz="2200" kern="1200" dirty="0"/>
            <a:t> </a:t>
          </a:r>
          <a:r>
            <a:rPr lang="en-GB" sz="2200" kern="1200" dirty="0" err="1"/>
            <a:t>weergevoelig</a:t>
          </a:r>
          <a:endParaRPr lang="en-US" sz="2200" kern="1200" dirty="0"/>
        </a:p>
      </dsp:txBody>
      <dsp:txXfrm>
        <a:off x="1057183" y="1805"/>
        <a:ext cx="9458416" cy="915310"/>
      </dsp:txXfrm>
    </dsp:sp>
    <dsp:sp modelId="{7E7DE666-F4C5-4740-BC0D-5DEBCC070BB3}">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DE554B-978C-4C56-BDF6-B8F28E409399}">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4C1687-C2F8-4D11-AF48-11FE1EA3FDDD}">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GB" sz="2200" kern="1200"/>
            <a:t>Hoge operationele impact bij hitte, storm en hevige neerslag</a:t>
          </a:r>
          <a:endParaRPr lang="en-US" sz="2200" kern="1200"/>
        </a:p>
      </dsp:txBody>
      <dsp:txXfrm>
        <a:off x="1057183" y="1145944"/>
        <a:ext cx="9458416" cy="915310"/>
      </dsp:txXfrm>
    </dsp:sp>
    <dsp:sp modelId="{90E327AE-9CA3-450C-8012-047355EFC336}">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0DE08D-4195-431E-AD3C-19948F82B6CF}">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72C11C-0941-4F26-B56F-7C980985DBC7}">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GB" sz="2200" kern="1200"/>
            <a:t>Ontbreken van uniforme drempel-alerts</a:t>
          </a:r>
          <a:endParaRPr lang="en-US" sz="2200" kern="1200"/>
        </a:p>
      </dsp:txBody>
      <dsp:txXfrm>
        <a:off x="1057183" y="2290082"/>
        <a:ext cx="9458416" cy="915310"/>
      </dsp:txXfrm>
    </dsp:sp>
    <dsp:sp modelId="{3A19845E-559A-43D4-AFEC-FCA6ED62BDDE}">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0CECCD-0958-4CA1-B871-8F9420323653}">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BCAB84-7958-461B-97DF-2ED3ED5A651E}">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GB" sz="2200" kern="1200"/>
            <a:t>Grote maatschappelijke en logistieke relevantie</a:t>
          </a:r>
          <a:endParaRPr lang="en-US" sz="2200" kern="1200"/>
        </a:p>
      </dsp:txBody>
      <dsp:txXfrm>
        <a:off x="1057183" y="3434221"/>
        <a:ext cx="9458416" cy="9153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4B75BD-CA5C-4EFE-9EF3-E0B48E97E8BC}">
      <dsp:nvSpPr>
        <dsp:cNvPr id="0" name=""/>
        <dsp:cNvSpPr/>
      </dsp:nvSpPr>
      <dsp:spPr>
        <a:xfrm>
          <a:off x="0" y="836469"/>
          <a:ext cx="10515600" cy="61775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100000"/>
            </a:lnSpc>
            <a:spcBef>
              <a:spcPct val="0"/>
            </a:spcBef>
            <a:spcAft>
              <a:spcPct val="35000"/>
            </a:spcAft>
            <a:buNone/>
          </a:pPr>
          <a:r>
            <a:rPr lang="nl-NL" sz="2400" kern="1200"/>
            <a:t>Technische keuzes beoordeeld door peers</a:t>
          </a:r>
          <a:endParaRPr lang="en-US" sz="2400" kern="1200"/>
        </a:p>
      </dsp:txBody>
      <dsp:txXfrm>
        <a:off x="30157" y="866626"/>
        <a:ext cx="10455286" cy="557445"/>
      </dsp:txXfrm>
    </dsp:sp>
    <dsp:sp modelId="{01E3EADB-1589-44BB-A585-D8EFEE7E9E71}">
      <dsp:nvSpPr>
        <dsp:cNvPr id="0" name=""/>
        <dsp:cNvSpPr/>
      </dsp:nvSpPr>
      <dsp:spPr>
        <a:xfrm>
          <a:off x="0" y="1523349"/>
          <a:ext cx="10515600" cy="61775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100000"/>
            </a:lnSpc>
            <a:spcBef>
              <a:spcPct val="0"/>
            </a:spcBef>
            <a:spcAft>
              <a:spcPct val="35000"/>
            </a:spcAft>
            <a:buNone/>
          </a:pPr>
          <a:r>
            <a:rPr lang="nl-NL" sz="2400" kern="1200" dirty="0" err="1"/>
            <a:t>Proof</a:t>
          </a:r>
          <a:r>
            <a:rPr lang="nl-NL" sz="2400" kern="1200" dirty="0"/>
            <a:t> of Concept bevestigt real-time integratie mogelijk</a:t>
          </a:r>
          <a:endParaRPr lang="en-US" sz="2400" kern="1200" dirty="0"/>
        </a:p>
      </dsp:txBody>
      <dsp:txXfrm>
        <a:off x="30157" y="1553506"/>
        <a:ext cx="10455286" cy="557445"/>
      </dsp:txXfrm>
    </dsp:sp>
    <dsp:sp modelId="{B7CBEB1E-417C-4062-8F8C-884EBCD02BF5}">
      <dsp:nvSpPr>
        <dsp:cNvPr id="0" name=""/>
        <dsp:cNvSpPr/>
      </dsp:nvSpPr>
      <dsp:spPr>
        <a:xfrm>
          <a:off x="0" y="2210229"/>
          <a:ext cx="10515600" cy="61775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100000"/>
            </a:lnSpc>
            <a:spcBef>
              <a:spcPct val="0"/>
            </a:spcBef>
            <a:spcAft>
              <a:spcPct val="35000"/>
            </a:spcAft>
            <a:buNone/>
          </a:pPr>
          <a:r>
            <a:rPr lang="nl-NL" sz="2400" kern="1200"/>
            <a:t>Alerts sluiten aan op operationele processen</a:t>
          </a:r>
          <a:endParaRPr lang="en-US" sz="2400" kern="1200"/>
        </a:p>
      </dsp:txBody>
      <dsp:txXfrm>
        <a:off x="30157" y="2240386"/>
        <a:ext cx="10455286" cy="557445"/>
      </dsp:txXfrm>
    </dsp:sp>
    <dsp:sp modelId="{C1C992C4-0026-49CB-AB10-65850F7CFAFC}">
      <dsp:nvSpPr>
        <dsp:cNvPr id="0" name=""/>
        <dsp:cNvSpPr/>
      </dsp:nvSpPr>
      <dsp:spPr>
        <a:xfrm>
          <a:off x="0" y="2897109"/>
          <a:ext cx="10515600" cy="61775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100000"/>
            </a:lnSpc>
            <a:spcBef>
              <a:spcPct val="0"/>
            </a:spcBef>
            <a:spcAft>
              <a:spcPct val="35000"/>
            </a:spcAft>
            <a:buNone/>
          </a:pPr>
          <a:r>
            <a:rPr lang="nl-NL" sz="2400" kern="1200"/>
            <a:t>Identificeert risico’s: sensordata, betrouwbaarheid, open-data afhankelijkheid</a:t>
          </a:r>
          <a:endParaRPr lang="en-US" sz="2400" kern="1200"/>
        </a:p>
      </dsp:txBody>
      <dsp:txXfrm>
        <a:off x="30157" y="2927266"/>
        <a:ext cx="10455286" cy="55744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B3601D-0529-49A4-BD9E-6CC3A85DC0C2}" type="datetimeFigureOut">
              <a:rPr lang="en-GB" smtClean="0"/>
              <a:t>14/11/2025</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864823-6E7F-4E73-9AB0-25F8A9B54F4D}" type="slidenum">
              <a:rPr lang="en-GB" smtClean="0"/>
              <a:t>‹nr.›</a:t>
            </a:fld>
            <a:endParaRPr lang="en-GB"/>
          </a:p>
        </p:txBody>
      </p:sp>
    </p:spTree>
    <p:extLst>
      <p:ext uri="{BB962C8B-B14F-4D97-AF65-F5344CB8AC3E}">
        <p14:creationId xmlns:p14="http://schemas.microsoft.com/office/powerpoint/2010/main" val="769942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Thomas</a:t>
            </a:r>
            <a:r>
              <a:rPr lang="nl-NL" dirty="0"/>
              <a:t> (30sec)</a:t>
            </a:r>
          </a:p>
          <a:p>
            <a:endParaRPr lang="nl-NL" dirty="0"/>
          </a:p>
          <a:p>
            <a:r>
              <a:rPr lang="nl-NL" dirty="0"/>
              <a:t>“In Nederland kan één zware storm het treinverkeer grotendeels platleggen. </a:t>
            </a:r>
          </a:p>
          <a:p>
            <a:r>
              <a:rPr lang="nl-NL" dirty="0"/>
              <a:t>Duizenden reizigers — waaronder studenten met tentamens of presentaties — staan dan vast omdat waarschuwingen te laat of te algemeen zijn.</a:t>
            </a:r>
          </a:p>
          <a:p>
            <a:r>
              <a:rPr lang="nl-NL" dirty="0"/>
              <a:t>Ons onderzoek laat zien hoe real-time, asset-specifieke weeralerts dit kunnen voorkomen. Vandaag laten we zien hoe.”</a:t>
            </a:r>
          </a:p>
          <a:p>
            <a:r>
              <a:rPr lang="nl-NL" dirty="0"/>
              <a:t>Mijn naam is Thomas en samen met </a:t>
            </a:r>
            <a:r>
              <a:rPr lang="nl-NL" dirty="0" err="1"/>
              <a:t>Vere</a:t>
            </a:r>
            <a:r>
              <a:rPr lang="nl-NL" dirty="0"/>
              <a:t> neem ik jullie graag mee door ons onderzoek naar een passende weerdienst voor de spoorsector.</a:t>
            </a:r>
            <a:br>
              <a:rPr lang="nl-NL" dirty="0"/>
            </a:br>
            <a:br>
              <a:rPr lang="nl-NL" dirty="0"/>
            </a:br>
            <a:endParaRPr lang="en-GB"/>
          </a:p>
        </p:txBody>
      </p:sp>
      <p:sp>
        <p:nvSpPr>
          <p:cNvPr id="4" name="Tijdelijke aanduiding voor dianummer 3"/>
          <p:cNvSpPr>
            <a:spLocks noGrp="1"/>
          </p:cNvSpPr>
          <p:nvPr>
            <p:ph type="sldNum" sz="quarter" idx="5"/>
          </p:nvPr>
        </p:nvSpPr>
        <p:spPr/>
        <p:txBody>
          <a:bodyPr/>
          <a:lstStyle/>
          <a:p>
            <a:fld id="{68864823-6E7F-4E73-9AB0-25F8A9B54F4D}" type="slidenum">
              <a:rPr lang="en-GB" smtClean="0"/>
              <a:t>1</a:t>
            </a:fld>
            <a:endParaRPr lang="en-GB"/>
          </a:p>
        </p:txBody>
      </p:sp>
    </p:spTree>
    <p:extLst>
      <p:ext uri="{BB962C8B-B14F-4D97-AF65-F5344CB8AC3E}">
        <p14:creationId xmlns:p14="http://schemas.microsoft.com/office/powerpoint/2010/main" val="3349095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Thomas</a:t>
            </a:r>
            <a:r>
              <a:rPr lang="nl-NL" dirty="0"/>
              <a:t> (30sec)</a:t>
            </a:r>
          </a:p>
          <a:p>
            <a:endParaRPr lang="nl-NL" dirty="0"/>
          </a:p>
          <a:p>
            <a:r>
              <a:rPr lang="nl-NL" dirty="0"/>
              <a:t>Gedurende deze presentatie zullen we de volgende </a:t>
            </a:r>
            <a:r>
              <a:rPr lang="nl-NL" dirty="0" err="1"/>
              <a:t>stops</a:t>
            </a:r>
            <a:r>
              <a:rPr lang="nl-NL" dirty="0"/>
              <a:t> maken:</a:t>
            </a:r>
            <a:endParaRPr lang="nl-NL"/>
          </a:p>
          <a:p>
            <a:pPr marL="514350" indent="-514350">
              <a:buFont typeface="+mj-lt"/>
              <a:buAutoNum type="arabicPeriod"/>
            </a:pPr>
            <a:r>
              <a:rPr lang="nl-NL"/>
              <a:t>Achtergrond(x min)</a:t>
            </a:r>
          </a:p>
          <a:p>
            <a:pPr marL="514350" indent="-514350">
              <a:buFont typeface="+mj-lt"/>
              <a:buAutoNum type="arabicPeriod"/>
            </a:pPr>
            <a:r>
              <a:rPr lang="nl-NL"/>
              <a:t>Onderzoeksvragen (x min)</a:t>
            </a:r>
          </a:p>
          <a:p>
            <a:pPr marL="514350" indent="-514350">
              <a:buFont typeface="+mj-lt"/>
              <a:buAutoNum type="arabicPeriod"/>
            </a:pPr>
            <a:r>
              <a:rPr lang="nl-NL"/>
              <a:t>Methodiek (x min)</a:t>
            </a:r>
          </a:p>
          <a:p>
            <a:pPr marL="514350" indent="-514350">
              <a:buFont typeface="+mj-lt"/>
              <a:buAutoNum type="arabicPeriod"/>
            </a:pPr>
            <a:r>
              <a:rPr lang="nl-NL"/>
              <a:t>Resultaten (x min)</a:t>
            </a:r>
          </a:p>
          <a:p>
            <a:pPr marL="514350" indent="-514350">
              <a:buFont typeface="+mj-lt"/>
              <a:buAutoNum type="arabicPeriod"/>
            </a:pPr>
            <a:r>
              <a:rPr lang="nl-NL"/>
              <a:t>Experiment (x min)</a:t>
            </a:r>
          </a:p>
          <a:p>
            <a:pPr marL="514350" indent="-514350">
              <a:buFont typeface="+mj-lt"/>
              <a:buAutoNum type="arabicPeriod"/>
            </a:pPr>
            <a:r>
              <a:rPr lang="nl-NL"/>
              <a:t>Conclusie (x min)</a:t>
            </a:r>
          </a:p>
          <a:p>
            <a:pPr marL="0" indent="0">
              <a:buFont typeface="+mj-lt"/>
              <a:buNone/>
            </a:pPr>
            <a:r>
              <a:rPr lang="nl-NL" dirty="0"/>
              <a:t>Het gehele traject zal zo’n 15 minuten duren.</a:t>
            </a:r>
            <a:endParaRPr lang="en-GB" dirty="0"/>
          </a:p>
          <a:p>
            <a:r>
              <a:rPr lang="en-GB" dirty="0"/>
              <a:t>Bij de </a:t>
            </a:r>
            <a:r>
              <a:rPr lang="en-GB" dirty="0" err="1"/>
              <a:t>eindhalte</a:t>
            </a:r>
            <a:r>
              <a:rPr lang="en-GB" dirty="0"/>
              <a:t> </a:t>
            </a:r>
            <a:r>
              <a:rPr lang="en-GB" dirty="0" err="1"/>
              <a:t>zullen</a:t>
            </a:r>
            <a:r>
              <a:rPr lang="en-GB" dirty="0"/>
              <a:t> we </a:t>
            </a:r>
            <a:r>
              <a:rPr lang="en-GB" dirty="0" err="1"/>
              <a:t>ook</a:t>
            </a:r>
            <a:r>
              <a:rPr lang="en-GB" dirty="0"/>
              <a:t> </a:t>
            </a:r>
            <a:r>
              <a:rPr lang="en-GB" dirty="0" err="1"/>
              <a:t>nog</a:t>
            </a:r>
            <a:r>
              <a:rPr lang="en-GB" dirty="0"/>
              <a:t> wat </a:t>
            </a:r>
            <a:r>
              <a:rPr lang="en-GB" dirty="0" err="1"/>
              <a:t>tijd</a:t>
            </a:r>
            <a:r>
              <a:rPr lang="en-GB" dirty="0"/>
              <a:t> </a:t>
            </a:r>
            <a:r>
              <a:rPr lang="en-GB" dirty="0" err="1"/>
              <a:t>bewaren</a:t>
            </a:r>
            <a:r>
              <a:rPr lang="en-GB" dirty="0"/>
              <a:t> </a:t>
            </a:r>
            <a:r>
              <a:rPr lang="en-GB" dirty="0" err="1"/>
              <a:t>voor</a:t>
            </a:r>
            <a:r>
              <a:rPr lang="en-GB" dirty="0"/>
              <a:t> </a:t>
            </a:r>
            <a:r>
              <a:rPr lang="en-GB" dirty="0" err="1"/>
              <a:t>mogelijke</a:t>
            </a:r>
            <a:r>
              <a:rPr lang="en-GB" dirty="0"/>
              <a:t> </a:t>
            </a:r>
            <a:r>
              <a:rPr lang="en-GB" dirty="0" err="1"/>
              <a:t>vragen</a:t>
            </a:r>
            <a:r>
              <a:rPr lang="en-GB" dirty="0"/>
              <a:t>.</a:t>
            </a:r>
            <a:endParaRPr lang="en-GB"/>
          </a:p>
        </p:txBody>
      </p:sp>
      <p:sp>
        <p:nvSpPr>
          <p:cNvPr id="4" name="Tijdelijke aanduiding voor dianummer 3"/>
          <p:cNvSpPr>
            <a:spLocks noGrp="1"/>
          </p:cNvSpPr>
          <p:nvPr>
            <p:ph type="sldNum" sz="quarter" idx="5"/>
          </p:nvPr>
        </p:nvSpPr>
        <p:spPr/>
        <p:txBody>
          <a:bodyPr/>
          <a:lstStyle/>
          <a:p>
            <a:fld id="{68864823-6E7F-4E73-9AB0-25F8A9B54F4D}" type="slidenum">
              <a:rPr lang="en-GB" smtClean="0"/>
              <a:t>2</a:t>
            </a:fld>
            <a:endParaRPr lang="en-GB"/>
          </a:p>
        </p:txBody>
      </p:sp>
    </p:spTree>
    <p:extLst>
      <p:ext uri="{BB962C8B-B14F-4D97-AF65-F5344CB8AC3E}">
        <p14:creationId xmlns:p14="http://schemas.microsoft.com/office/powerpoint/2010/main" val="3761679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err="1"/>
              <a:t>Vere</a:t>
            </a:r>
            <a:endParaRPr lang="nl-NL" dirty="0"/>
          </a:p>
          <a:p>
            <a:r>
              <a:rPr lang="nl-NL" dirty="0" err="1"/>
              <a:t>TropoMetrics</a:t>
            </a:r>
            <a:r>
              <a:rPr lang="nl-NL" dirty="0"/>
              <a:t>: nieuwe weersdienst ontwikkelen</a:t>
            </a:r>
          </a:p>
          <a:p>
            <a:r>
              <a:rPr lang="nl-NL" dirty="0"/>
              <a:t>Transport- en energiesectoren: meest kwetsbare infrastructuur voor gevolgen klimaatverandering (hittegolven, zware buien, stormschade)</a:t>
            </a:r>
          </a:p>
          <a:p>
            <a:r>
              <a:rPr lang="nl-NL" dirty="0"/>
              <a:t>Behoefte aan systeem: automatisch informatie vertalen naar asset-specifieke adviezen / drempelwaarschuwingen.</a:t>
            </a:r>
          </a:p>
          <a:p>
            <a:r>
              <a:rPr lang="nl-NL" dirty="0" err="1"/>
              <a:t>TropoMetrics</a:t>
            </a:r>
            <a:r>
              <a:rPr lang="nl-NL" dirty="0"/>
              <a:t> </a:t>
            </a:r>
            <a:r>
              <a:rPr lang="nl-NL" dirty="0">
                <a:sym typeface="Wingdings" panose="05000000000000000000" pitchFamily="2" charset="2"/>
              </a:rPr>
              <a:t> een dienst voor een specifieke sector (welke actueel)</a:t>
            </a:r>
          </a:p>
          <a:p>
            <a:pPr marL="171450" indent="-171450">
              <a:buFontTx/>
              <a:buChar char="-"/>
            </a:pPr>
            <a:r>
              <a:rPr lang="nl-NL" dirty="0">
                <a:sym typeface="Wingdings" panose="05000000000000000000" pitchFamily="2" charset="2"/>
              </a:rPr>
              <a:t>Schaalbaar + betrouwbaar</a:t>
            </a:r>
          </a:p>
          <a:p>
            <a:endParaRPr lang="nl-NL" dirty="0">
              <a:sym typeface="Wingdings" panose="05000000000000000000" pitchFamily="2" charset="2"/>
            </a:endParaRPr>
          </a:p>
          <a:p>
            <a:r>
              <a:rPr lang="nl-NL" dirty="0">
                <a:sym typeface="Wingdings" panose="05000000000000000000" pitchFamily="2" charset="2"/>
              </a:rPr>
              <a:t>Doel:</a:t>
            </a:r>
          </a:p>
          <a:p>
            <a:r>
              <a:rPr lang="nl-NL" dirty="0">
                <a:sym typeface="Wingdings" panose="05000000000000000000" pitchFamily="2" charset="2"/>
              </a:rPr>
              <a:t>Inzicht hoe onderscheiden  innovatieve + klantgerichte dienst</a:t>
            </a:r>
          </a:p>
          <a:p>
            <a:r>
              <a:rPr lang="nl-NL" dirty="0">
                <a:sym typeface="Wingdings" panose="05000000000000000000" pitchFamily="2" charset="2"/>
              </a:rPr>
              <a:t>Technische mogelijkheden, gebruik betrouwbare databronnen, aansluiting behoefte verschillende sectoren</a:t>
            </a:r>
            <a:endParaRPr lang="nl-NL" dirty="0"/>
          </a:p>
          <a:p>
            <a:endParaRPr lang="en-GB" dirty="0"/>
          </a:p>
        </p:txBody>
      </p:sp>
      <p:sp>
        <p:nvSpPr>
          <p:cNvPr id="4" name="Tijdelijke aanduiding voor dianummer 3"/>
          <p:cNvSpPr>
            <a:spLocks noGrp="1"/>
          </p:cNvSpPr>
          <p:nvPr>
            <p:ph type="sldNum" sz="quarter" idx="5"/>
          </p:nvPr>
        </p:nvSpPr>
        <p:spPr/>
        <p:txBody>
          <a:bodyPr/>
          <a:lstStyle/>
          <a:p>
            <a:fld id="{68864823-6E7F-4E73-9AB0-25F8A9B54F4D}" type="slidenum">
              <a:rPr lang="en-GB" smtClean="0"/>
              <a:t>3</a:t>
            </a:fld>
            <a:endParaRPr lang="en-GB"/>
          </a:p>
        </p:txBody>
      </p:sp>
    </p:spTree>
    <p:extLst>
      <p:ext uri="{BB962C8B-B14F-4D97-AF65-F5344CB8AC3E}">
        <p14:creationId xmlns:p14="http://schemas.microsoft.com/office/powerpoint/2010/main" val="188810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Vere</a:t>
            </a:r>
          </a:p>
          <a:p>
            <a:r>
              <a:rPr lang="nl-NL"/>
              <a:t>Onderzoeksvraag: Op welke manier kan </a:t>
            </a:r>
            <a:r>
              <a:rPr lang="nl-NL" err="1"/>
              <a:t>TropoMetrics</a:t>
            </a:r>
            <a:r>
              <a:rPr lang="nl-NL"/>
              <a:t> zich het beste </a:t>
            </a:r>
            <a:r>
              <a:rPr lang="nl-NL" err="1"/>
              <a:t>odnerscheiden</a:t>
            </a:r>
            <a:r>
              <a:rPr lang="nl-NL"/>
              <a:t> op de markt voor weersdiensten door middel van een nieuwe dienst?</a:t>
            </a:r>
          </a:p>
          <a:p>
            <a:pPr marL="228600" indent="-228600">
              <a:buAutoNum type="arabicPeriod"/>
            </a:pPr>
            <a:r>
              <a:rPr lang="nl-NL"/>
              <a:t>Hoe ziet de huidige dienstverlening en marktpositie </a:t>
            </a:r>
            <a:r>
              <a:rPr lang="nl-NL" err="1"/>
              <a:t>vanTropoMetrics</a:t>
            </a:r>
            <a:r>
              <a:rPr lang="nl-NL"/>
              <a:t> eruit?</a:t>
            </a:r>
          </a:p>
          <a:p>
            <a:pPr marL="228600" indent="-228600">
              <a:buAutoNum type="arabicPeriod"/>
            </a:pPr>
            <a:r>
              <a:rPr lang="nl-NL"/>
              <a:t>Welke technologische en marktgerichte mogelijkhedenzijn er om de huidige dienstverlening uit te breiden of </a:t>
            </a:r>
            <a:r>
              <a:rPr lang="nl-NL" err="1"/>
              <a:t>tevernieuwen</a:t>
            </a:r>
            <a:r>
              <a:rPr lang="nl-NL"/>
              <a:t> op de huidige markt voor weersdiensten?</a:t>
            </a:r>
          </a:p>
          <a:p>
            <a:pPr marL="228600" indent="-228600">
              <a:buAutoNum type="arabicPeriod"/>
            </a:pPr>
            <a:r>
              <a:rPr lang="nl-NL"/>
              <a:t>Welke technische en organisatorische eisen en </a:t>
            </a:r>
            <a:r>
              <a:rPr lang="nl-NL" err="1"/>
              <a:t>klant-gerichte</a:t>
            </a:r>
            <a:r>
              <a:rPr lang="nl-NL"/>
              <a:t> wensen zijn bepalend voor het ontwikkelen van </a:t>
            </a:r>
            <a:r>
              <a:rPr lang="nl-NL" err="1"/>
              <a:t>eennieuwe</a:t>
            </a:r>
            <a:r>
              <a:rPr lang="nl-NL"/>
              <a:t> dienst bij </a:t>
            </a:r>
            <a:r>
              <a:rPr lang="nl-NL" err="1"/>
              <a:t>TropoMetrics</a:t>
            </a:r>
            <a:r>
              <a:rPr lang="nl-NL"/>
              <a:t>?</a:t>
            </a:r>
          </a:p>
          <a:p>
            <a:pPr marL="228600" indent="-228600">
              <a:buAutoNum type="arabicPeriod"/>
            </a:pPr>
            <a:r>
              <a:rPr lang="nl-NL"/>
              <a:t>Hoe sluiten de mogelijkheden voor nieuwe </a:t>
            </a:r>
            <a:r>
              <a:rPr lang="nl-NL" err="1"/>
              <a:t>dienstenaan</a:t>
            </a:r>
            <a:r>
              <a:rPr lang="nl-NL"/>
              <a:t> bij de eisen die </a:t>
            </a:r>
            <a:r>
              <a:rPr lang="nl-NL" err="1"/>
              <a:t>TropoMetrics</a:t>
            </a:r>
            <a:r>
              <a:rPr lang="nl-NL"/>
              <a:t> stelt op het gebied </a:t>
            </a:r>
            <a:r>
              <a:rPr lang="nl-NL" err="1"/>
              <a:t>vanklantgerichtheid</a:t>
            </a:r>
            <a:r>
              <a:rPr lang="nl-NL"/>
              <a:t>, betrouwbaarheid, schaalbaarheid en security?</a:t>
            </a:r>
          </a:p>
          <a:p>
            <a:pPr marL="228600" indent="-228600">
              <a:buAutoNum type="arabicPeriod"/>
            </a:pPr>
            <a:r>
              <a:rPr lang="nl-NL"/>
              <a:t>Welke stappen zijn nodig om een </a:t>
            </a:r>
            <a:r>
              <a:rPr lang="nl-NL" err="1"/>
              <a:t>Proof</a:t>
            </a:r>
            <a:r>
              <a:rPr lang="nl-NL"/>
              <a:t> of </a:t>
            </a:r>
            <a:r>
              <a:rPr lang="nl-NL" err="1"/>
              <a:t>Conceptte</a:t>
            </a:r>
            <a:r>
              <a:rPr lang="nl-NL"/>
              <a:t> ontwikkelen dat aansluit bij de behoeften en eisen </a:t>
            </a:r>
            <a:r>
              <a:rPr lang="nl-NL" err="1"/>
              <a:t>vanTropoMetrics</a:t>
            </a:r>
            <a:r>
              <a:rPr lang="nl-NL"/>
              <a:t>?</a:t>
            </a:r>
          </a:p>
          <a:p>
            <a:pPr marL="228600" indent="-228600">
              <a:buAutoNum type="arabicPeriod"/>
            </a:pPr>
            <a:endParaRPr lang="nl-NL"/>
          </a:p>
          <a:p>
            <a:pPr marL="0" indent="0">
              <a:buNone/>
            </a:pPr>
            <a:r>
              <a:rPr lang="nl-NL"/>
              <a:t>Volgen logische + </a:t>
            </a:r>
            <a:r>
              <a:rPr lang="nl-NL" err="1"/>
              <a:t>hierarchische</a:t>
            </a:r>
            <a:r>
              <a:rPr lang="nl-NL"/>
              <a:t> opbouw</a:t>
            </a:r>
          </a:p>
          <a:p>
            <a:pPr marL="171450" indent="-171450">
              <a:buFontTx/>
              <a:buChar char="-"/>
            </a:pPr>
            <a:r>
              <a:rPr lang="nl-NL"/>
              <a:t>1 en 2: context + uitgangspositie herkennen</a:t>
            </a:r>
          </a:p>
          <a:p>
            <a:pPr marL="171450" indent="-171450">
              <a:buFontTx/>
              <a:buChar char="-"/>
            </a:pPr>
            <a:r>
              <a:rPr lang="nl-NL"/>
              <a:t>3 en 4: eisen + randvoorwaarden van dienst specificeren</a:t>
            </a:r>
          </a:p>
          <a:p>
            <a:pPr marL="171450" indent="-171450">
              <a:buFontTx/>
              <a:buChar char="-"/>
            </a:pPr>
            <a:r>
              <a:rPr lang="nl-NL"/>
              <a:t>5: vertaling naar een experimentele toepassing</a:t>
            </a:r>
            <a:endParaRPr lang="en-GB"/>
          </a:p>
        </p:txBody>
      </p:sp>
      <p:sp>
        <p:nvSpPr>
          <p:cNvPr id="4" name="Tijdelijke aanduiding voor dianummer 3"/>
          <p:cNvSpPr>
            <a:spLocks noGrp="1"/>
          </p:cNvSpPr>
          <p:nvPr>
            <p:ph type="sldNum" sz="quarter" idx="5"/>
          </p:nvPr>
        </p:nvSpPr>
        <p:spPr/>
        <p:txBody>
          <a:bodyPr/>
          <a:lstStyle/>
          <a:p>
            <a:fld id="{68864823-6E7F-4E73-9AB0-25F8A9B54F4D}" type="slidenum">
              <a:rPr lang="en-GB" smtClean="0"/>
              <a:t>4</a:t>
            </a:fld>
            <a:endParaRPr lang="en-GB"/>
          </a:p>
        </p:txBody>
      </p:sp>
    </p:spTree>
    <p:extLst>
      <p:ext uri="{BB962C8B-B14F-4D97-AF65-F5344CB8AC3E}">
        <p14:creationId xmlns:p14="http://schemas.microsoft.com/office/powerpoint/2010/main" val="4094358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Vere</a:t>
            </a:r>
          </a:p>
          <a:p>
            <a:r>
              <a:rPr lang="nl-NL"/>
              <a:t>DSR (Design </a:t>
            </a:r>
            <a:r>
              <a:rPr lang="nl-NL" err="1"/>
              <a:t>Science</a:t>
            </a:r>
            <a:r>
              <a:rPr lang="nl-NL"/>
              <a:t> Research) </a:t>
            </a:r>
            <a:r>
              <a:rPr lang="nl-NL">
                <a:sym typeface="Wingdings" panose="05000000000000000000" pitchFamily="2" charset="2"/>
              </a:rPr>
              <a:t> onderzoek analyseren bestaand probleem + ontwerpen praktische oplossing</a:t>
            </a:r>
            <a:endParaRPr lang="nl-NL"/>
          </a:p>
          <a:p>
            <a:r>
              <a:rPr lang="nl-NL"/>
              <a:t>Probleemidentificatie: </a:t>
            </a:r>
          </a:p>
          <a:p>
            <a:pPr marL="171450" indent="-171450">
              <a:buFontTx/>
              <a:buChar char="-"/>
            </a:pPr>
            <a:r>
              <a:rPr lang="nl-NL"/>
              <a:t>Literatuurstudie + documentanalyse bestaande meteorologische systemen en beleidsdocumenten KMNI, Rijkswaterstaat, ProRail</a:t>
            </a:r>
          </a:p>
          <a:p>
            <a:pPr marL="171450" indent="-171450">
              <a:buFontTx/>
              <a:buChar char="-"/>
            </a:pPr>
            <a:r>
              <a:rPr lang="nl-NL"/>
              <a:t>Datasets + waarschuwingstypen </a:t>
            </a:r>
            <a:r>
              <a:rPr lang="nl-NL">
                <a:sym typeface="Wingdings" panose="05000000000000000000" pitchFamily="2" charset="2"/>
              </a:rPr>
              <a:t> beschikbaarheid relevante open data (spoorsector, nog geen systeem met real-time data koppelt aan drempelwaarden)</a:t>
            </a:r>
          </a:p>
          <a:p>
            <a:pPr marL="171450" indent="-171450">
              <a:buFontTx/>
              <a:buChar char="-"/>
            </a:pPr>
            <a:endParaRPr lang="nl-NL">
              <a:sym typeface="Wingdings" panose="05000000000000000000" pitchFamily="2" charset="2"/>
            </a:endParaRPr>
          </a:p>
          <a:p>
            <a:pPr marL="0" indent="0">
              <a:buFontTx/>
              <a:buNone/>
            </a:pPr>
            <a:r>
              <a:rPr lang="nl-NL">
                <a:sym typeface="Wingdings" panose="05000000000000000000" pitchFamily="2" charset="2"/>
              </a:rPr>
              <a:t>Sectoranalyse en dataverkenning:</a:t>
            </a:r>
          </a:p>
          <a:p>
            <a:pPr marL="171450" indent="-171450">
              <a:buFontTx/>
              <a:buChar char="-"/>
            </a:pPr>
            <a:r>
              <a:rPr lang="nl-NL">
                <a:sym typeface="Wingdings" panose="05000000000000000000" pitchFamily="2" charset="2"/>
              </a:rPr>
              <a:t>Multi-criteria-analyse (MCA)  relatieve geschiktheid verschillende sectoren (spoor, binnenvaart, bouw, wegtransport, telecommunicatie)</a:t>
            </a:r>
          </a:p>
          <a:p>
            <a:pPr marL="171450" indent="-171450">
              <a:buFontTx/>
              <a:buChar char="-"/>
            </a:pPr>
            <a:r>
              <a:rPr lang="nl-NL">
                <a:sym typeface="Wingdings" panose="05000000000000000000" pitchFamily="2" charset="2"/>
              </a:rPr>
              <a:t>Criteria: mate weersafwijkingen impact veiligheid + dienstverlening, beschikbaarheid + kwaliteit open data (meteorologisch, operationeel), mogelijkheid tot automatisering binnen bedrijfsprocessen, economische + maatschappelijke relevantie</a:t>
            </a:r>
          </a:p>
          <a:p>
            <a:pPr marL="171450" indent="-171450">
              <a:buFontTx/>
              <a:buChar char="-"/>
            </a:pPr>
            <a:r>
              <a:rPr lang="nl-NL">
                <a:sym typeface="Wingdings" panose="05000000000000000000" pitchFamily="2" charset="2"/>
              </a:rPr>
              <a:t>Combinatie kwantitatieve data-analyse (incidenten + </a:t>
            </a:r>
            <a:r>
              <a:rPr lang="nl-NL" err="1">
                <a:sym typeface="Wingdings" panose="05000000000000000000" pitchFamily="2" charset="2"/>
              </a:rPr>
              <a:t>weerstatitieken</a:t>
            </a:r>
            <a:r>
              <a:rPr lang="nl-NL">
                <a:sym typeface="Wingdings" panose="05000000000000000000" pitchFamily="2" charset="2"/>
              </a:rPr>
              <a:t>) + kwalitatieve documentanalyse (rapporten + nieuwsbronnen)</a:t>
            </a:r>
          </a:p>
          <a:p>
            <a:pPr marL="171450" indent="-171450">
              <a:buFontTx/>
              <a:buChar char="-"/>
            </a:pPr>
            <a:endParaRPr lang="nl-NL">
              <a:sym typeface="Wingdings" panose="05000000000000000000" pitchFamily="2" charset="2"/>
            </a:endParaRPr>
          </a:p>
          <a:p>
            <a:pPr marL="0" indent="0">
              <a:buFontTx/>
              <a:buNone/>
            </a:pPr>
            <a:r>
              <a:rPr lang="nl-NL">
                <a:sym typeface="Wingdings" panose="05000000000000000000" pitchFamily="2" charset="2"/>
              </a:rPr>
              <a:t>Conceptueel ontwerp</a:t>
            </a:r>
          </a:p>
          <a:p>
            <a:pPr marL="171450" indent="-171450">
              <a:buFontTx/>
              <a:buChar char="-"/>
            </a:pPr>
            <a:r>
              <a:rPr lang="nl-NL">
                <a:sym typeface="Wingdings" panose="05000000000000000000" pitchFamily="2" charset="2"/>
              </a:rPr>
              <a:t>Resultaten fase 2  conceptueel model:</a:t>
            </a:r>
          </a:p>
          <a:p>
            <a:pPr marL="171450" indent="-171450">
              <a:buFont typeface="Arial" panose="020B0604020202020204" pitchFamily="34" charset="0"/>
              <a:buChar char="•"/>
            </a:pPr>
            <a:r>
              <a:rPr lang="nl-NL">
                <a:sym typeface="Wingdings" panose="05000000000000000000" pitchFamily="2" charset="2"/>
              </a:rPr>
              <a:t>Dataverzameling via KMNI- en </a:t>
            </a:r>
            <a:r>
              <a:rPr lang="nl-NL" err="1">
                <a:sym typeface="Wingdings" panose="05000000000000000000" pitchFamily="2" charset="2"/>
              </a:rPr>
              <a:t>rijkswaterstaat-API’s</a:t>
            </a:r>
            <a:r>
              <a:rPr lang="nl-NL">
                <a:sym typeface="Wingdings" panose="05000000000000000000" pitchFamily="2" charset="2"/>
              </a:rPr>
              <a:t> (neerslagradar, waterstanden)</a:t>
            </a:r>
          </a:p>
          <a:p>
            <a:pPr marL="171450" indent="-171450">
              <a:buFont typeface="Arial" panose="020B0604020202020204" pitchFamily="34" charset="0"/>
              <a:buChar char="•"/>
            </a:pPr>
            <a:r>
              <a:rPr lang="nl-NL" err="1">
                <a:sym typeface="Wingdings" panose="05000000000000000000" pitchFamily="2" charset="2"/>
              </a:rPr>
              <a:t>Dataverwerkingslaag</a:t>
            </a:r>
            <a:r>
              <a:rPr lang="nl-NL">
                <a:sym typeface="Wingdings" panose="05000000000000000000" pitchFamily="2" charset="2"/>
              </a:rPr>
              <a:t> (drempelwaarden per spoortraject)</a:t>
            </a:r>
          </a:p>
          <a:p>
            <a:pPr marL="171450" indent="-171450">
              <a:buFont typeface="Arial" panose="020B0604020202020204" pitchFamily="34" charset="0"/>
              <a:buChar char="•"/>
            </a:pPr>
            <a:r>
              <a:rPr lang="nl-NL">
                <a:sym typeface="Wingdings" panose="05000000000000000000" pitchFamily="2" charset="2"/>
              </a:rPr>
              <a:t>Meldingsmodule: waarschuwingen bij drempelwaarden overschrijding</a:t>
            </a:r>
          </a:p>
          <a:p>
            <a:pPr marL="171450" indent="-171450">
              <a:buFont typeface="Arial" panose="020B0604020202020204" pitchFamily="34" charset="0"/>
              <a:buChar char="•"/>
            </a:pPr>
            <a:r>
              <a:rPr lang="nl-NL">
                <a:sym typeface="Wingdings" panose="05000000000000000000" pitchFamily="2" charset="2"/>
              </a:rPr>
              <a:t>Interface: </a:t>
            </a:r>
            <a:r>
              <a:rPr lang="nl-NL" err="1">
                <a:sym typeface="Wingdings" panose="05000000000000000000" pitchFamily="2" charset="2"/>
              </a:rPr>
              <a:t>visualatie</a:t>
            </a:r>
            <a:r>
              <a:rPr lang="nl-NL">
                <a:sym typeface="Wingdings" panose="05000000000000000000" pitchFamily="2" charset="2"/>
              </a:rPr>
              <a:t> + notificatie</a:t>
            </a:r>
          </a:p>
          <a:p>
            <a:pPr marL="171450" indent="-171450">
              <a:buFont typeface="Arial" panose="020B0604020202020204" pitchFamily="34" charset="0"/>
              <a:buChar char="•"/>
            </a:pPr>
            <a:endParaRPr lang="nl-NL">
              <a:sym typeface="Wingdings" panose="05000000000000000000" pitchFamily="2" charset="2"/>
            </a:endParaRPr>
          </a:p>
          <a:p>
            <a:pPr marL="0" indent="0">
              <a:buFont typeface="Arial" panose="020B0604020202020204" pitchFamily="34" charset="0"/>
              <a:buNone/>
            </a:pPr>
            <a:r>
              <a:rPr lang="nl-NL">
                <a:sym typeface="Wingdings" panose="05000000000000000000" pitchFamily="2" charset="2"/>
              </a:rPr>
              <a:t>Evaluatie + validatie</a:t>
            </a:r>
          </a:p>
          <a:p>
            <a:pPr marL="171450" indent="-171450">
              <a:buFontTx/>
              <a:buChar char="-"/>
            </a:pPr>
            <a:r>
              <a:rPr lang="nl-NL">
                <a:sym typeface="Wingdings" panose="05000000000000000000" pitchFamily="2" charset="2"/>
              </a:rPr>
              <a:t>Concept wordt beoordeeld op technische haalbaarheid + relevantie</a:t>
            </a:r>
          </a:p>
          <a:p>
            <a:pPr marL="171450" indent="-171450">
              <a:buFontTx/>
              <a:buChar char="-"/>
            </a:pPr>
            <a:endParaRPr lang="nl-NL">
              <a:sym typeface="Wingdings" panose="05000000000000000000" pitchFamily="2" charset="2"/>
            </a:endParaRPr>
          </a:p>
          <a:p>
            <a:pPr marL="0" indent="0">
              <a:buFontTx/>
              <a:buNone/>
            </a:pPr>
            <a:r>
              <a:rPr lang="nl-NL">
                <a:sym typeface="Wingdings" panose="05000000000000000000" pitchFamily="2" charset="2"/>
              </a:rPr>
              <a:t>Reflectie + aanbevelingen</a:t>
            </a:r>
          </a:p>
          <a:p>
            <a:pPr marL="171450" indent="-171450">
              <a:buFontTx/>
              <a:buChar char="-"/>
            </a:pPr>
            <a:r>
              <a:rPr lang="nl-NL">
                <a:sym typeface="Wingdings" panose="05000000000000000000" pitchFamily="2" charset="2"/>
              </a:rPr>
              <a:t>Beperkingen onderzoek:</a:t>
            </a:r>
          </a:p>
          <a:p>
            <a:pPr marL="171450" indent="-171450">
              <a:buFont typeface="Arial" panose="020B0604020202020204" pitchFamily="34" charset="0"/>
              <a:buChar char="•"/>
            </a:pPr>
            <a:r>
              <a:rPr lang="nl-NL">
                <a:sym typeface="Wingdings" panose="05000000000000000000" pitchFamily="2" charset="2"/>
              </a:rPr>
              <a:t>Ontbreken van empirische testdata  </a:t>
            </a:r>
            <a:r>
              <a:rPr lang="nl-NL" err="1">
                <a:sym typeface="Wingdings" panose="05000000000000000000" pitchFamily="2" charset="2"/>
              </a:rPr>
              <a:t>effecitiviteit</a:t>
            </a:r>
            <a:r>
              <a:rPr lang="nl-NL">
                <a:sym typeface="Wingdings" panose="05000000000000000000" pitchFamily="2" charset="2"/>
              </a:rPr>
              <a:t> waarschuwingen meten</a:t>
            </a:r>
          </a:p>
          <a:p>
            <a:pPr marL="171450" indent="-171450">
              <a:buFont typeface="Arial" panose="020B0604020202020204" pitchFamily="34" charset="0"/>
              <a:buChar char="•"/>
            </a:pPr>
            <a:r>
              <a:rPr lang="nl-NL">
                <a:sym typeface="Wingdings" panose="05000000000000000000" pitchFamily="2" charset="2"/>
              </a:rPr>
              <a:t>Afhankelijkheid opendata + betrouwbaarheid sensornetwerken</a:t>
            </a:r>
          </a:p>
          <a:p>
            <a:pPr marL="171450" indent="-171450">
              <a:buFont typeface="Arial" panose="020B0604020202020204" pitchFamily="34" charset="0"/>
              <a:buChar char="•"/>
            </a:pPr>
            <a:r>
              <a:rPr lang="nl-NL">
                <a:sym typeface="Wingdings" panose="05000000000000000000" pitchFamily="2" charset="2"/>
              </a:rPr>
              <a:t>Noodzaak: privacy + veiligheidsaspecten waarborgen bij operationele implementatie</a:t>
            </a:r>
          </a:p>
          <a:p>
            <a:pPr marL="171450" indent="-171450">
              <a:buFont typeface="Arial" panose="020B0604020202020204" pitchFamily="34" charset="0"/>
              <a:buChar char="•"/>
            </a:pPr>
            <a:endParaRPr lang="nl-NL">
              <a:sym typeface="Wingdings" panose="05000000000000000000" pitchFamily="2" charset="2"/>
            </a:endParaRPr>
          </a:p>
          <a:p>
            <a:pPr marL="0" indent="0">
              <a:buFont typeface="Arial" panose="020B0604020202020204" pitchFamily="34" charset="0"/>
              <a:buNone/>
            </a:pPr>
            <a:r>
              <a:rPr lang="nl-NL">
                <a:sym typeface="Wingdings" panose="05000000000000000000" pitchFamily="2" charset="2"/>
              </a:rPr>
              <a:t>Onderzoek biedt solide basis voor verdere ontwikkeling</a:t>
            </a:r>
          </a:p>
        </p:txBody>
      </p:sp>
      <p:sp>
        <p:nvSpPr>
          <p:cNvPr id="4" name="Tijdelijke aanduiding voor dianummer 3"/>
          <p:cNvSpPr>
            <a:spLocks noGrp="1"/>
          </p:cNvSpPr>
          <p:nvPr>
            <p:ph type="sldNum" sz="quarter" idx="5"/>
          </p:nvPr>
        </p:nvSpPr>
        <p:spPr/>
        <p:txBody>
          <a:bodyPr/>
          <a:lstStyle/>
          <a:p>
            <a:fld id="{68864823-6E7F-4E73-9AB0-25F8A9B54F4D}" type="slidenum">
              <a:rPr lang="en-GB" smtClean="0"/>
              <a:t>5</a:t>
            </a:fld>
            <a:endParaRPr lang="en-GB"/>
          </a:p>
        </p:txBody>
      </p:sp>
    </p:spTree>
    <p:extLst>
      <p:ext uri="{BB962C8B-B14F-4D97-AF65-F5344CB8AC3E}">
        <p14:creationId xmlns:p14="http://schemas.microsoft.com/office/powerpoint/2010/main" val="39901003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Thomas</a:t>
            </a:r>
          </a:p>
          <a:p>
            <a:endParaRPr lang="nl-NL"/>
          </a:p>
          <a:p>
            <a:r>
              <a:rPr lang="nl-NL"/>
              <a:t>Sector: Spoor</a:t>
            </a:r>
          </a:p>
          <a:p>
            <a:endParaRPr lang="nl-NL"/>
          </a:p>
          <a:p>
            <a:r>
              <a:rPr lang="nl-NL" dirty="0"/>
              <a:t>Onze analyse liet zien dat vooral in de spoorsector zware hinder ontstaat door hitte, storm en wateroverlast. De huidige waarschuwingen zijn te generiek en worden niet automatisch vertaald naar operationele acties, zoals tijdelijke snelheidsbeperkingen of inspecties. Daardoor ontstaat een duidelijke kans voor een dienst die </a:t>
            </a:r>
            <a:r>
              <a:rPr lang="nl-NL" b="1" dirty="0" err="1"/>
              <a:t>realtime</a:t>
            </a:r>
            <a:r>
              <a:rPr lang="nl-NL" b="1" dirty="0"/>
              <a:t>, asset-specifieke waarschuwingen</a:t>
            </a:r>
            <a:r>
              <a:rPr lang="nl-NL" dirty="0"/>
              <a:t> kan genereren en operators ondersteunt bij besluitvorming.</a:t>
            </a:r>
            <a:endParaRPr lang="en-GB"/>
          </a:p>
        </p:txBody>
      </p:sp>
      <p:sp>
        <p:nvSpPr>
          <p:cNvPr id="4" name="Tijdelijke aanduiding voor dianummer 3"/>
          <p:cNvSpPr>
            <a:spLocks noGrp="1"/>
          </p:cNvSpPr>
          <p:nvPr>
            <p:ph type="sldNum" sz="quarter" idx="5"/>
          </p:nvPr>
        </p:nvSpPr>
        <p:spPr/>
        <p:txBody>
          <a:bodyPr/>
          <a:lstStyle/>
          <a:p>
            <a:fld id="{68864823-6E7F-4E73-9AB0-25F8A9B54F4D}" type="slidenum">
              <a:rPr lang="en-GB" smtClean="0"/>
              <a:t>6</a:t>
            </a:fld>
            <a:endParaRPr lang="en-GB"/>
          </a:p>
        </p:txBody>
      </p:sp>
    </p:spTree>
    <p:extLst>
      <p:ext uri="{BB962C8B-B14F-4D97-AF65-F5344CB8AC3E}">
        <p14:creationId xmlns:p14="http://schemas.microsoft.com/office/powerpoint/2010/main" val="24752644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54A47-7C6E-115A-5356-6152FA1EA36C}"/>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F2780C8-EDA7-1500-3E76-28FB6E66705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102E0CED-F4CE-C680-9B72-09A6C5CCEBDF}"/>
              </a:ext>
            </a:extLst>
          </p:cNvPr>
          <p:cNvSpPr>
            <a:spLocks noGrp="1"/>
          </p:cNvSpPr>
          <p:nvPr>
            <p:ph type="body" idx="1"/>
          </p:nvPr>
        </p:nvSpPr>
        <p:spPr/>
        <p:txBody>
          <a:bodyPr/>
          <a:lstStyle/>
          <a:p>
            <a:r>
              <a:rPr lang="nl-NL" dirty="0"/>
              <a:t>Thomas</a:t>
            </a:r>
          </a:p>
          <a:p>
            <a:endParaRPr lang="nl-NL" dirty="0"/>
          </a:p>
          <a:p>
            <a:r>
              <a:rPr lang="nl-NL" dirty="0"/>
              <a:t>Het conceptueel model bestaat uit drie hoofdonderdelen: dataverzameling, drempelwaardeverwerking en een meldingsmodule. Zodra een waarde – bijvoorbeeld windsnelheid of rail-temperatuur – een ingestelde drempel overschrijdt, wordt er automatisch een waarschuwing gegenereerd. Via het dashboard worden deze alerts per spoortraject weergegeven inclusief aanbevolen acties. Dit ontwerp is schaalbaar, </a:t>
            </a:r>
            <a:r>
              <a:rPr lang="nl-NL" dirty="0" err="1"/>
              <a:t>uitbreidbaar</a:t>
            </a:r>
            <a:r>
              <a:rPr lang="nl-NL" dirty="0"/>
              <a:t> en sluit aan op de eisen en wensen van </a:t>
            </a:r>
            <a:r>
              <a:rPr lang="nl-NL" dirty="0" err="1"/>
              <a:t>TropoMetrics</a:t>
            </a:r>
            <a:r>
              <a:rPr lang="nl-NL" dirty="0"/>
              <a:t>.</a:t>
            </a:r>
            <a:endParaRPr lang="en-GB" dirty="0"/>
          </a:p>
        </p:txBody>
      </p:sp>
      <p:sp>
        <p:nvSpPr>
          <p:cNvPr id="4" name="Tijdelijke aanduiding voor dianummer 3">
            <a:extLst>
              <a:ext uri="{FF2B5EF4-FFF2-40B4-BE49-F238E27FC236}">
                <a16:creationId xmlns:a16="http://schemas.microsoft.com/office/drawing/2014/main" id="{DC3AB124-4B5C-AFF1-0D0B-E6595EB5F654}"/>
              </a:ext>
            </a:extLst>
          </p:cNvPr>
          <p:cNvSpPr>
            <a:spLocks noGrp="1"/>
          </p:cNvSpPr>
          <p:nvPr>
            <p:ph type="sldNum" sz="quarter" idx="5"/>
          </p:nvPr>
        </p:nvSpPr>
        <p:spPr/>
        <p:txBody>
          <a:bodyPr/>
          <a:lstStyle/>
          <a:p>
            <a:fld id="{68864823-6E7F-4E73-9AB0-25F8A9B54F4D}" type="slidenum">
              <a:rPr lang="en-GB" smtClean="0"/>
              <a:t>7</a:t>
            </a:fld>
            <a:endParaRPr lang="en-GB"/>
          </a:p>
        </p:txBody>
      </p:sp>
    </p:spTree>
    <p:extLst>
      <p:ext uri="{BB962C8B-B14F-4D97-AF65-F5344CB8AC3E}">
        <p14:creationId xmlns:p14="http://schemas.microsoft.com/office/powerpoint/2010/main" val="3898446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033DF-A589-0042-DE22-542100448FE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A905A96-C9E5-3FF3-927F-E9930455C0F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B5EC745-922F-A69A-2BED-3F0FDCE202B3}"/>
              </a:ext>
            </a:extLst>
          </p:cNvPr>
          <p:cNvSpPr>
            <a:spLocks noGrp="1"/>
          </p:cNvSpPr>
          <p:nvPr>
            <p:ph type="body" idx="1"/>
          </p:nvPr>
        </p:nvSpPr>
        <p:spPr/>
        <p:txBody>
          <a:bodyPr/>
          <a:lstStyle/>
          <a:p>
            <a:r>
              <a:rPr lang="nl-NL" dirty="0"/>
              <a:t>Thomas</a:t>
            </a:r>
          </a:p>
          <a:p>
            <a:endParaRPr lang="nl-NL" dirty="0"/>
          </a:p>
          <a:p>
            <a:r>
              <a:rPr lang="nl-NL" dirty="0"/>
              <a:t>De gekozen architectuur is gedurende ons onderzoek beoordeeld aan de hand van een peer review. Het </a:t>
            </a:r>
            <a:r>
              <a:rPr lang="nl-NL" dirty="0" err="1"/>
              <a:t>PoC</a:t>
            </a:r>
            <a:r>
              <a:rPr lang="nl-NL" dirty="0"/>
              <a:t> toonde aan dat </a:t>
            </a:r>
            <a:r>
              <a:rPr lang="nl-NL" b="1" dirty="0" err="1"/>
              <a:t>realtime</a:t>
            </a:r>
            <a:r>
              <a:rPr lang="nl-NL" b="1" dirty="0"/>
              <a:t> verwerking haalbaar is</a:t>
            </a:r>
            <a:r>
              <a:rPr lang="nl-NL" dirty="0"/>
              <a:t> en dat drempeloverschrijdingen automatisch vertaald kunnen worden naar bruikbare waarschuwingen. Ook ontdekten we verbeterpunten zoals datakwaliteit en foutafhandeling– allemaal waardevolle inzichten voor een toekomstige doorontwikkeling.</a:t>
            </a:r>
            <a:endParaRPr lang="en-GB" dirty="0"/>
          </a:p>
        </p:txBody>
      </p:sp>
      <p:sp>
        <p:nvSpPr>
          <p:cNvPr id="4" name="Tijdelijke aanduiding voor dianummer 3">
            <a:extLst>
              <a:ext uri="{FF2B5EF4-FFF2-40B4-BE49-F238E27FC236}">
                <a16:creationId xmlns:a16="http://schemas.microsoft.com/office/drawing/2014/main" id="{B1B9FCA8-BDDD-4D48-00D5-F3FFF9D4D495}"/>
              </a:ext>
            </a:extLst>
          </p:cNvPr>
          <p:cNvSpPr>
            <a:spLocks noGrp="1"/>
          </p:cNvSpPr>
          <p:nvPr>
            <p:ph type="sldNum" sz="quarter" idx="5"/>
          </p:nvPr>
        </p:nvSpPr>
        <p:spPr/>
        <p:txBody>
          <a:bodyPr/>
          <a:lstStyle/>
          <a:p>
            <a:fld id="{68864823-6E7F-4E73-9AB0-25F8A9B54F4D}" type="slidenum">
              <a:rPr lang="en-GB" smtClean="0"/>
              <a:t>8</a:t>
            </a:fld>
            <a:endParaRPr lang="en-GB"/>
          </a:p>
        </p:txBody>
      </p:sp>
    </p:spTree>
    <p:extLst>
      <p:ext uri="{BB962C8B-B14F-4D97-AF65-F5344CB8AC3E}">
        <p14:creationId xmlns:p14="http://schemas.microsoft.com/office/powerpoint/2010/main" val="791459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Thomas</a:t>
            </a:r>
          </a:p>
          <a:p>
            <a:endParaRPr lang="nl-NL" dirty="0"/>
          </a:p>
          <a:p>
            <a:r>
              <a:rPr lang="nl-NL" dirty="0"/>
              <a:t>Het experiment had als doel om de kernfunctionaliteit van onze dienst aantoonbaar te maken: </a:t>
            </a:r>
            <a:r>
              <a:rPr lang="nl-NL" b="1" dirty="0"/>
              <a:t>real-time weerdata koppelen aan operationele spoortrajecten</a:t>
            </a:r>
            <a:r>
              <a:rPr lang="nl-NL" dirty="0"/>
              <a:t>. We kozen een route en haalden per station actuele gegevens op via </a:t>
            </a:r>
            <a:r>
              <a:rPr lang="nl-NL" dirty="0" err="1"/>
              <a:t>API’s</a:t>
            </a:r>
            <a:r>
              <a:rPr lang="nl-NL" dirty="0"/>
              <a:t> van KNMI. Deze waardes werden vergeleken met vooraf bepaalde en ingestelde drempelwaarden, zoals wind &gt; 15 km/u of zicht &lt; 2 km. Bij overschrijdingen genereerde het </a:t>
            </a:r>
            <a:r>
              <a:rPr lang="nl-NL" dirty="0" err="1"/>
              <a:t>PoC</a:t>
            </a:r>
            <a:r>
              <a:rPr lang="nl-NL" dirty="0"/>
              <a:t> automatische alerts die direct zichtbaar werden in het dashboard.</a:t>
            </a:r>
          </a:p>
          <a:p>
            <a:endParaRPr lang="nl-NL" dirty="0"/>
          </a:p>
          <a:p>
            <a:r>
              <a:rPr lang="nl-NL" dirty="0"/>
              <a:t>We hebben gekeken naar de volledige keten: van dataverwerking tot visualisatie. Zodra een drempel werd overschreden, bijvoorbeeld een hoge luchtvochtigheid of plotselinge windstoot, verscheen een alert in het meldingenoverzicht. Het </a:t>
            </a:r>
            <a:r>
              <a:rPr lang="nl-NL" dirty="0" err="1"/>
              <a:t>PoC</a:t>
            </a:r>
            <a:r>
              <a:rPr lang="nl-NL" dirty="0"/>
              <a:t> toont daarmee aan dat de dienst daadwerkelijk in staat is om </a:t>
            </a:r>
            <a:r>
              <a:rPr lang="nl-NL" b="1" dirty="0" err="1"/>
              <a:t>spoorspecifieke</a:t>
            </a:r>
            <a:r>
              <a:rPr lang="nl-NL" b="1" dirty="0"/>
              <a:t> situaties vroegtijdig te signaleren</a:t>
            </a:r>
            <a:r>
              <a:rPr lang="nl-NL" dirty="0"/>
              <a:t>, wat operators helpt in hun besluitvorming.</a:t>
            </a:r>
          </a:p>
          <a:p>
            <a:endParaRPr lang="nl-NL" dirty="0"/>
          </a:p>
          <a:p>
            <a:r>
              <a:rPr lang="nl-NL" dirty="0"/>
              <a:t>Om verschillende bedrijfsprocessen te kunnen ondersteunen zijn de drempelwaardes volledig zelf in te stellen zodat het kan voldoen aan bestaande operaties binnen verschillende organisaties.</a:t>
            </a:r>
          </a:p>
          <a:p>
            <a:endParaRPr lang="nl-NL" dirty="0"/>
          </a:p>
          <a:p>
            <a:r>
              <a:rPr lang="nl-NL" dirty="0"/>
              <a:t>Het experiment bewijst dat de technologie daadwerkelijk beschikbaar is om een operationeel relevante dienst te ontwikkelen voor de spoorsector. </a:t>
            </a:r>
            <a:r>
              <a:rPr lang="nl-NL" dirty="0" err="1"/>
              <a:t>Realtime</a:t>
            </a:r>
            <a:r>
              <a:rPr lang="nl-NL" dirty="0"/>
              <a:t> alerts, configuratie van drempelwaarden en </a:t>
            </a:r>
            <a:r>
              <a:rPr lang="nl-NL" dirty="0" err="1"/>
              <a:t>routegebaseerde</a:t>
            </a:r>
            <a:r>
              <a:rPr lang="nl-NL" dirty="0"/>
              <a:t> visualisaties werken zoals bedoeld. </a:t>
            </a:r>
            <a:endParaRPr lang="en-GB" dirty="0"/>
          </a:p>
        </p:txBody>
      </p:sp>
      <p:sp>
        <p:nvSpPr>
          <p:cNvPr id="4" name="Tijdelijke aanduiding voor dianummer 3"/>
          <p:cNvSpPr>
            <a:spLocks noGrp="1"/>
          </p:cNvSpPr>
          <p:nvPr>
            <p:ph type="sldNum" sz="quarter" idx="5"/>
          </p:nvPr>
        </p:nvSpPr>
        <p:spPr/>
        <p:txBody>
          <a:bodyPr/>
          <a:lstStyle/>
          <a:p>
            <a:fld id="{68864823-6E7F-4E73-9AB0-25F8A9B54F4D}" type="slidenum">
              <a:rPr lang="en-GB" smtClean="0"/>
              <a:t>9</a:t>
            </a:fld>
            <a:endParaRPr lang="en-GB"/>
          </a:p>
        </p:txBody>
      </p:sp>
    </p:spTree>
    <p:extLst>
      <p:ext uri="{BB962C8B-B14F-4D97-AF65-F5344CB8AC3E}">
        <p14:creationId xmlns:p14="http://schemas.microsoft.com/office/powerpoint/2010/main" val="5170622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err="1"/>
              <a:t>Vere</a:t>
            </a:r>
            <a:endParaRPr lang="nl-NL" dirty="0"/>
          </a:p>
          <a:p>
            <a:pPr marL="228600" indent="-228600">
              <a:buAutoNum type="arabicPeriod"/>
            </a:pPr>
            <a:r>
              <a:rPr lang="en-GB" dirty="0" err="1"/>
              <a:t>TropoMetrics</a:t>
            </a:r>
            <a:r>
              <a:rPr lang="en-GB" dirty="0"/>
              <a:t>: standard </a:t>
            </a:r>
            <a:r>
              <a:rPr lang="en-GB" dirty="0" err="1"/>
              <a:t>weersdiensten</a:t>
            </a:r>
            <a:r>
              <a:rPr lang="en-GB" dirty="0"/>
              <a:t>, alerts, </a:t>
            </a:r>
            <a:r>
              <a:rPr lang="en-GB" dirty="0" err="1"/>
              <a:t>sectropakketten</a:t>
            </a:r>
            <a:r>
              <a:rPr lang="en-GB" dirty="0"/>
              <a:t> via API</a:t>
            </a:r>
          </a:p>
          <a:p>
            <a:pPr marL="0" indent="0">
              <a:buNone/>
            </a:pPr>
            <a:r>
              <a:rPr lang="en-GB" dirty="0" err="1"/>
              <a:t>Onderscheid</a:t>
            </a:r>
            <a:r>
              <a:rPr lang="en-GB" dirty="0"/>
              <a:t> met </a:t>
            </a:r>
            <a:r>
              <a:rPr lang="en-GB" dirty="0" err="1"/>
              <a:t>maatwerk</a:t>
            </a:r>
            <a:r>
              <a:rPr lang="en-GB" dirty="0"/>
              <a:t> + </a:t>
            </a:r>
            <a:r>
              <a:rPr lang="en-GB" dirty="0" err="1"/>
              <a:t>combineren</a:t>
            </a:r>
            <a:r>
              <a:rPr lang="en-GB" dirty="0"/>
              <a:t> open data, eigen data </a:t>
            </a:r>
          </a:p>
          <a:p>
            <a:pPr marL="0" indent="0">
              <a:buNone/>
            </a:pPr>
            <a:r>
              <a:rPr lang="en-GB" dirty="0" err="1"/>
              <a:t>Positie</a:t>
            </a:r>
            <a:r>
              <a:rPr lang="en-GB" dirty="0"/>
              <a:t>: </a:t>
            </a:r>
            <a:r>
              <a:rPr lang="en-GB" dirty="0" err="1"/>
              <a:t>generiek</a:t>
            </a:r>
            <a:r>
              <a:rPr lang="en-GB" dirty="0"/>
              <a:t> + </a:t>
            </a:r>
            <a:r>
              <a:rPr lang="en-GB" dirty="0" err="1"/>
              <a:t>onder</a:t>
            </a:r>
            <a:r>
              <a:rPr lang="en-GB" dirty="0"/>
              <a:t> </a:t>
            </a:r>
            <a:r>
              <a:rPr lang="en-GB" dirty="0" err="1"/>
              <a:t>druk</a:t>
            </a:r>
            <a:r>
              <a:rPr lang="en-GB" dirty="0"/>
              <a:t> door </a:t>
            </a:r>
            <a:r>
              <a:rPr lang="en-GB" dirty="0" err="1"/>
              <a:t>grote</a:t>
            </a:r>
            <a:r>
              <a:rPr lang="en-GB" dirty="0"/>
              <a:t> </a:t>
            </a:r>
            <a:r>
              <a:rPr lang="en-GB" dirty="0" err="1"/>
              <a:t>concurrenten</a:t>
            </a:r>
            <a:r>
              <a:rPr lang="en-GB" dirty="0"/>
              <a:t>; </a:t>
            </a:r>
            <a:r>
              <a:rPr lang="en-GB" dirty="0" err="1"/>
              <a:t>flexibiliteit</a:t>
            </a:r>
            <a:r>
              <a:rPr lang="en-GB" dirty="0"/>
              <a:t> + </a:t>
            </a:r>
            <a:r>
              <a:rPr lang="en-GB" dirty="0" err="1"/>
              <a:t>snelheid</a:t>
            </a:r>
            <a:r>
              <a:rPr lang="en-GB" dirty="0"/>
              <a:t> </a:t>
            </a:r>
            <a:r>
              <a:rPr lang="en-GB" dirty="0" err="1"/>
              <a:t>sterke</a:t>
            </a:r>
            <a:r>
              <a:rPr lang="en-GB" dirty="0"/>
              <a:t> </a:t>
            </a:r>
            <a:r>
              <a:rPr lang="en-GB" dirty="0" err="1"/>
              <a:t>punten</a:t>
            </a:r>
            <a:r>
              <a:rPr lang="en-GB" dirty="0"/>
              <a:t>, </a:t>
            </a:r>
            <a:r>
              <a:rPr lang="en-GB" dirty="0" err="1"/>
              <a:t>huidige</a:t>
            </a:r>
            <a:r>
              <a:rPr lang="en-GB" dirty="0"/>
              <a:t> </a:t>
            </a:r>
            <a:r>
              <a:rPr lang="en-GB" dirty="0" err="1"/>
              <a:t>werkwijze</a:t>
            </a:r>
            <a:r>
              <a:rPr lang="en-GB" dirty="0"/>
              <a:t> = </a:t>
            </a:r>
            <a:r>
              <a:rPr lang="en-GB" dirty="0" err="1"/>
              <a:t>kostbaar</a:t>
            </a:r>
            <a:endParaRPr lang="en-GB" dirty="0"/>
          </a:p>
          <a:p>
            <a:pPr marL="0" indent="0">
              <a:buNone/>
            </a:pPr>
            <a:r>
              <a:rPr lang="en-GB" dirty="0"/>
              <a:t>2. AI, machine learning, IoT, </a:t>
            </a:r>
            <a:r>
              <a:rPr lang="en-GB" dirty="0" err="1"/>
              <a:t>bredere</a:t>
            </a:r>
            <a:r>
              <a:rPr lang="en-GB" dirty="0"/>
              <a:t> </a:t>
            </a:r>
            <a:r>
              <a:rPr lang="en-GB" dirty="0" err="1"/>
              <a:t>connectiviteit</a:t>
            </a:r>
            <a:r>
              <a:rPr lang="en-GB" dirty="0"/>
              <a:t> </a:t>
            </a:r>
            <a:r>
              <a:rPr lang="en-GB" dirty="0">
                <a:sym typeface="Wingdings" panose="05000000000000000000" pitchFamily="2" charset="2"/>
              </a:rPr>
              <a:t> </a:t>
            </a:r>
            <a:r>
              <a:rPr lang="en-GB" dirty="0" err="1">
                <a:sym typeface="Wingdings" panose="05000000000000000000" pitchFamily="2" charset="2"/>
              </a:rPr>
              <a:t>kansen</a:t>
            </a:r>
            <a:r>
              <a:rPr lang="en-GB" dirty="0">
                <a:sym typeface="Wingdings" panose="05000000000000000000" pitchFamily="2" charset="2"/>
              </a:rPr>
              <a:t> via </a:t>
            </a:r>
            <a:r>
              <a:rPr lang="en-GB" dirty="0" err="1">
                <a:sym typeface="Wingdings" panose="05000000000000000000" pitchFamily="2" charset="2"/>
              </a:rPr>
              <a:t>meer</a:t>
            </a:r>
            <a:r>
              <a:rPr lang="en-GB" dirty="0">
                <a:sym typeface="Wingdings" panose="05000000000000000000" pitchFamily="2" charset="2"/>
              </a:rPr>
              <a:t> + </a:t>
            </a:r>
            <a:r>
              <a:rPr lang="en-GB" dirty="0" err="1">
                <a:sym typeface="Wingdings" panose="05000000000000000000" pitchFamily="2" charset="2"/>
              </a:rPr>
              <a:t>rijkere</a:t>
            </a:r>
            <a:r>
              <a:rPr lang="en-GB" dirty="0">
                <a:sym typeface="Wingdings" panose="05000000000000000000" pitchFamily="2" charset="2"/>
              </a:rPr>
              <a:t> </a:t>
            </a:r>
            <a:r>
              <a:rPr lang="en-GB" dirty="0" err="1">
                <a:sym typeface="Wingdings" panose="05000000000000000000" pitchFamily="2" charset="2"/>
              </a:rPr>
              <a:t>databronnen</a:t>
            </a:r>
            <a:r>
              <a:rPr lang="en-GB" dirty="0">
                <a:sym typeface="Wingdings" panose="05000000000000000000" pitchFamily="2" charset="2"/>
              </a:rPr>
              <a:t> &amp; </a:t>
            </a:r>
            <a:r>
              <a:rPr lang="en-GB" dirty="0" err="1">
                <a:sym typeface="Wingdings" panose="05000000000000000000" pitchFamily="2" charset="2"/>
              </a:rPr>
              <a:t>sterkere</a:t>
            </a:r>
            <a:r>
              <a:rPr lang="en-GB" dirty="0">
                <a:sym typeface="Wingdings" panose="05000000000000000000" pitchFamily="2" charset="2"/>
              </a:rPr>
              <a:t> </a:t>
            </a:r>
            <a:r>
              <a:rPr lang="en-GB" dirty="0" err="1">
                <a:sym typeface="Wingdings" panose="05000000000000000000" pitchFamily="2" charset="2"/>
              </a:rPr>
              <a:t>integratie</a:t>
            </a:r>
            <a:r>
              <a:rPr lang="en-GB" dirty="0">
                <a:sym typeface="Wingdings" panose="05000000000000000000" pitchFamily="2" charset="2"/>
              </a:rPr>
              <a:t> </a:t>
            </a:r>
            <a:r>
              <a:rPr lang="en-GB" dirty="0" err="1">
                <a:sym typeface="Wingdings" panose="05000000000000000000" pitchFamily="2" charset="2"/>
              </a:rPr>
              <a:t>weersdiensten</a:t>
            </a:r>
            <a:r>
              <a:rPr lang="en-GB" dirty="0">
                <a:sym typeface="Wingdings" panose="05000000000000000000" pitchFamily="2" charset="2"/>
              </a:rPr>
              <a:t> in </a:t>
            </a:r>
            <a:r>
              <a:rPr lang="en-GB" dirty="0" err="1">
                <a:sym typeface="Wingdings" panose="05000000000000000000" pitchFamily="2" charset="2"/>
              </a:rPr>
              <a:t>bedrijfsbeslissingen</a:t>
            </a:r>
            <a:r>
              <a:rPr lang="en-GB" dirty="0">
                <a:sym typeface="Wingdings" panose="05000000000000000000" pitchFamily="2" charset="2"/>
              </a:rPr>
              <a:t>. CEO </a:t>
            </a:r>
            <a:r>
              <a:rPr lang="en-GB" dirty="0" err="1">
                <a:sym typeface="Wingdings" panose="05000000000000000000" pitchFamily="2" charset="2"/>
              </a:rPr>
              <a:t>positief</a:t>
            </a:r>
            <a:r>
              <a:rPr lang="en-GB" dirty="0">
                <a:sym typeface="Wingdings" panose="05000000000000000000" pitchFamily="2" charset="2"/>
              </a:rPr>
              <a:t> AI (</a:t>
            </a:r>
            <a:r>
              <a:rPr lang="en-GB" dirty="0" err="1">
                <a:sym typeface="Wingdings" panose="05000000000000000000" pitchFamily="2" charset="2"/>
              </a:rPr>
              <a:t>betrouwbaar</a:t>
            </a:r>
            <a:r>
              <a:rPr lang="en-GB" dirty="0">
                <a:sym typeface="Wingdings" panose="05000000000000000000" pitchFamily="2" charset="2"/>
              </a:rPr>
              <a:t> + </a:t>
            </a:r>
            <a:r>
              <a:rPr lang="en-GB" dirty="0" err="1">
                <a:sym typeface="Wingdings" panose="05000000000000000000" pitchFamily="2" charset="2"/>
              </a:rPr>
              <a:t>duurzaam</a:t>
            </a:r>
            <a:r>
              <a:rPr lang="en-GB" dirty="0">
                <a:sym typeface="Wingdings" panose="05000000000000000000" pitchFamily="2" charset="2"/>
              </a:rPr>
              <a:t>)</a:t>
            </a:r>
          </a:p>
          <a:p>
            <a:pPr marL="0" indent="0">
              <a:buNone/>
            </a:pPr>
            <a:r>
              <a:rPr lang="en-GB" dirty="0">
                <a:sym typeface="Wingdings" panose="05000000000000000000" pitchFamily="2" charset="2"/>
              </a:rPr>
              <a:t>3. </a:t>
            </a:r>
            <a:r>
              <a:rPr lang="en-GB" dirty="0" err="1">
                <a:sym typeface="Wingdings" panose="05000000000000000000" pitchFamily="2" charset="2"/>
              </a:rPr>
              <a:t>Vertrouwelijkheid</a:t>
            </a:r>
            <a:r>
              <a:rPr lang="en-GB" dirty="0">
                <a:sym typeface="Wingdings" panose="05000000000000000000" pitchFamily="2" charset="2"/>
              </a:rPr>
              <a:t> </a:t>
            </a:r>
            <a:r>
              <a:rPr lang="en-GB" dirty="0" err="1">
                <a:sym typeface="Wingdings" panose="05000000000000000000" pitchFamily="2" charset="2"/>
              </a:rPr>
              <a:t>modellen</a:t>
            </a:r>
            <a:r>
              <a:rPr lang="en-GB" dirty="0">
                <a:sym typeface="Wingdings" panose="05000000000000000000" pitchFamily="2" charset="2"/>
              </a:rPr>
              <a:t> + </a:t>
            </a:r>
            <a:r>
              <a:rPr lang="en-GB" dirty="0" err="1">
                <a:sym typeface="Wingdings" panose="05000000000000000000" pitchFamily="2" charset="2"/>
              </a:rPr>
              <a:t>methodes</a:t>
            </a:r>
            <a:r>
              <a:rPr lang="en-GB" dirty="0">
                <a:sym typeface="Wingdings" panose="05000000000000000000" pitchFamily="2" charset="2"/>
              </a:rPr>
              <a:t> (IP-</a:t>
            </a:r>
            <a:r>
              <a:rPr lang="en-GB" dirty="0" err="1">
                <a:sym typeface="Wingdings" panose="05000000000000000000" pitchFamily="2" charset="2"/>
              </a:rPr>
              <a:t>bescherming</a:t>
            </a:r>
            <a:r>
              <a:rPr lang="en-GB" dirty="0">
                <a:sym typeface="Wingdings" panose="05000000000000000000" pitchFamily="2" charset="2"/>
              </a:rPr>
              <a:t>), </a:t>
            </a:r>
            <a:r>
              <a:rPr lang="en-GB" dirty="0" err="1">
                <a:sym typeface="Wingdings" panose="05000000000000000000" pitchFamily="2" charset="2"/>
              </a:rPr>
              <a:t>beschikbaarheid</a:t>
            </a:r>
            <a:r>
              <a:rPr lang="en-GB" dirty="0">
                <a:sym typeface="Wingdings" panose="05000000000000000000" pitchFamily="2" charset="2"/>
              </a:rPr>
              <a:t>, </a:t>
            </a:r>
            <a:r>
              <a:rPr lang="en-GB" dirty="0" err="1">
                <a:sym typeface="Wingdings" panose="05000000000000000000" pitchFamily="2" charset="2"/>
              </a:rPr>
              <a:t>juistheid</a:t>
            </a:r>
            <a:r>
              <a:rPr lang="en-GB" dirty="0">
                <a:sym typeface="Wingdings" panose="05000000000000000000" pitchFamily="2" charset="2"/>
              </a:rPr>
              <a:t>, </a:t>
            </a:r>
            <a:r>
              <a:rPr lang="en-GB" dirty="0" err="1">
                <a:sym typeface="Wingdings" panose="05000000000000000000" pitchFamily="2" charset="2"/>
              </a:rPr>
              <a:t>schaalbaarheid</a:t>
            </a:r>
            <a:r>
              <a:rPr lang="en-GB" dirty="0">
                <a:sym typeface="Wingdings" panose="05000000000000000000" pitchFamily="2" charset="2"/>
              </a:rPr>
              <a:t>, Realtime </a:t>
            </a:r>
            <a:r>
              <a:rPr lang="en-GB" dirty="0" err="1">
                <a:sym typeface="Wingdings" panose="05000000000000000000" pitchFamily="2" charset="2"/>
              </a:rPr>
              <a:t>verwerking</a:t>
            </a:r>
            <a:r>
              <a:rPr lang="en-GB" dirty="0">
                <a:sym typeface="Wingdings" panose="05000000000000000000" pitchFamily="2" charset="2"/>
              </a:rPr>
              <a:t>, </a:t>
            </a:r>
            <a:r>
              <a:rPr lang="en-GB" dirty="0" err="1">
                <a:sym typeface="Wingdings" panose="05000000000000000000" pitchFamily="2" charset="2"/>
              </a:rPr>
              <a:t>duidelijke</a:t>
            </a:r>
            <a:r>
              <a:rPr lang="en-GB" dirty="0">
                <a:sym typeface="Wingdings" panose="05000000000000000000" pitchFamily="2" charset="2"/>
              </a:rPr>
              <a:t> B2B focus; </a:t>
            </a:r>
            <a:r>
              <a:rPr lang="en-GB" dirty="0" err="1">
                <a:sym typeface="Wingdings" panose="05000000000000000000" pitchFamily="2" charset="2"/>
              </a:rPr>
              <a:t>prioritaire</a:t>
            </a:r>
            <a:r>
              <a:rPr lang="en-GB" dirty="0">
                <a:sym typeface="Wingdings" panose="05000000000000000000" pitchFamily="2" charset="2"/>
              </a:rPr>
              <a:t> </a:t>
            </a:r>
            <a:r>
              <a:rPr lang="en-GB" dirty="0" err="1">
                <a:sym typeface="Wingdings" panose="05000000000000000000" pitchFamily="2" charset="2"/>
              </a:rPr>
              <a:t>factoren</a:t>
            </a:r>
            <a:r>
              <a:rPr lang="en-GB" dirty="0">
                <a:sym typeface="Wingdings" panose="05000000000000000000" pitchFamily="2" charset="2"/>
              </a:rPr>
              <a:t> (</a:t>
            </a:r>
            <a:r>
              <a:rPr lang="en-GB" dirty="0" err="1">
                <a:sym typeface="Wingdings" panose="05000000000000000000" pitchFamily="2" charset="2"/>
              </a:rPr>
              <a:t>zonne</a:t>
            </a:r>
            <a:r>
              <a:rPr lang="en-GB" dirty="0">
                <a:sym typeface="Wingdings" panose="05000000000000000000" pitchFamily="2" charset="2"/>
              </a:rPr>
              <a:t>- </a:t>
            </a:r>
            <a:r>
              <a:rPr lang="en-GB" dirty="0" err="1">
                <a:sym typeface="Wingdings" panose="05000000000000000000" pitchFamily="2" charset="2"/>
              </a:rPr>
              <a:t>en</a:t>
            </a:r>
            <a:r>
              <a:rPr lang="en-GB" dirty="0">
                <a:sym typeface="Wingdings" panose="05000000000000000000" pitchFamily="2" charset="2"/>
              </a:rPr>
              <a:t> </a:t>
            </a:r>
            <a:r>
              <a:rPr lang="en-GB" dirty="0" err="1">
                <a:sym typeface="Wingdings" panose="05000000000000000000" pitchFamily="2" charset="2"/>
              </a:rPr>
              <a:t>windparken</a:t>
            </a:r>
            <a:r>
              <a:rPr lang="en-GB" dirty="0">
                <a:sym typeface="Wingdings" panose="05000000000000000000" pitchFamily="2" charset="2"/>
              </a:rPr>
              <a:t>), </a:t>
            </a:r>
            <a:r>
              <a:rPr lang="en-GB" dirty="0" err="1">
                <a:sym typeface="Wingdings" panose="05000000000000000000" pitchFamily="2" charset="2"/>
              </a:rPr>
              <a:t>uitbreidingskansen</a:t>
            </a:r>
            <a:r>
              <a:rPr lang="en-GB" dirty="0">
                <a:sym typeface="Wingdings" panose="05000000000000000000" pitchFamily="2" charset="2"/>
              </a:rPr>
              <a:t>  </a:t>
            </a:r>
            <a:r>
              <a:rPr lang="en-GB" dirty="0" err="1">
                <a:sym typeface="Wingdings" panose="05000000000000000000" pitchFamily="2" charset="2"/>
              </a:rPr>
              <a:t>landbouw</a:t>
            </a:r>
            <a:r>
              <a:rPr lang="en-GB" dirty="0">
                <a:sym typeface="Wingdings" panose="05000000000000000000" pitchFamily="2" charset="2"/>
              </a:rPr>
              <a:t> + transport</a:t>
            </a:r>
          </a:p>
          <a:p>
            <a:pPr marL="0" indent="0">
              <a:buNone/>
            </a:pPr>
            <a:r>
              <a:rPr lang="en-GB" dirty="0">
                <a:sym typeface="Wingdings" panose="05000000000000000000" pitchFamily="2" charset="2"/>
              </a:rPr>
              <a:t>4. API-first Dienst die </a:t>
            </a:r>
            <a:r>
              <a:rPr lang="en-GB" dirty="0" err="1">
                <a:sym typeface="Wingdings" panose="05000000000000000000" pitchFamily="2" charset="2"/>
              </a:rPr>
              <a:t>realtime</a:t>
            </a:r>
            <a:r>
              <a:rPr lang="en-GB" dirty="0">
                <a:sym typeface="Wingdings" panose="05000000000000000000" pitchFamily="2" charset="2"/>
              </a:rPr>
              <a:t> </a:t>
            </a:r>
            <a:r>
              <a:rPr lang="en-GB" dirty="0" err="1">
                <a:sym typeface="Wingdings" panose="05000000000000000000" pitchFamily="2" charset="2"/>
              </a:rPr>
              <a:t>verwerkt</a:t>
            </a:r>
            <a:r>
              <a:rPr lang="en-GB" dirty="0">
                <a:sym typeface="Wingdings" panose="05000000000000000000" pitchFamily="2" charset="2"/>
              </a:rPr>
              <a:t>, </a:t>
            </a:r>
            <a:r>
              <a:rPr lang="en-GB" dirty="0" err="1">
                <a:sym typeface="Wingdings" panose="05000000000000000000" pitchFamily="2" charset="2"/>
              </a:rPr>
              <a:t>opschaalt</a:t>
            </a:r>
            <a:r>
              <a:rPr lang="en-GB" dirty="0">
                <a:sym typeface="Wingdings" panose="05000000000000000000" pitchFamily="2" charset="2"/>
              </a:rPr>
              <a:t> + </a:t>
            </a:r>
            <a:r>
              <a:rPr lang="en-GB" dirty="0" err="1">
                <a:sym typeface="Wingdings" panose="05000000000000000000" pitchFamily="2" charset="2"/>
              </a:rPr>
              <a:t>aantoonbaar</a:t>
            </a:r>
            <a:r>
              <a:rPr lang="en-GB" dirty="0">
                <a:sym typeface="Wingdings" panose="05000000000000000000" pitchFamily="2" charset="2"/>
              </a:rPr>
              <a:t> </a:t>
            </a:r>
            <a:r>
              <a:rPr lang="en-GB" dirty="0" err="1">
                <a:sym typeface="Wingdings" panose="05000000000000000000" pitchFamily="2" charset="2"/>
              </a:rPr>
              <a:t>betrouwbaar</a:t>
            </a:r>
            <a:r>
              <a:rPr lang="en-GB" dirty="0">
                <a:sym typeface="Wingdings" panose="05000000000000000000" pitchFamily="2" charset="2"/>
              </a:rPr>
              <a:t>: sluit </a:t>
            </a:r>
            <a:r>
              <a:rPr lang="en-GB" dirty="0" err="1">
                <a:sym typeface="Wingdings" panose="05000000000000000000" pitchFamily="2" charset="2"/>
              </a:rPr>
              <a:t>aan</a:t>
            </a:r>
            <a:r>
              <a:rPr lang="en-GB" dirty="0">
                <a:sym typeface="Wingdings" panose="05000000000000000000" pitchFamily="2" charset="2"/>
              </a:rPr>
              <a:t> </a:t>
            </a:r>
            <a:r>
              <a:rPr lang="en-GB" dirty="0" err="1">
                <a:sym typeface="Wingdings" panose="05000000000000000000" pitchFamily="2" charset="2"/>
              </a:rPr>
              <a:t>bij</a:t>
            </a:r>
            <a:r>
              <a:rPr lang="en-GB" dirty="0">
                <a:sym typeface="Wingdings" panose="05000000000000000000" pitchFamily="2" charset="2"/>
              </a:rPr>
              <a:t> </a:t>
            </a:r>
            <a:r>
              <a:rPr lang="en-GB" dirty="0" err="1">
                <a:sym typeface="Wingdings" panose="05000000000000000000" pitchFamily="2" charset="2"/>
              </a:rPr>
              <a:t>marktkans</a:t>
            </a:r>
            <a:r>
              <a:rPr lang="en-GB" dirty="0">
                <a:sym typeface="Wingdings" panose="05000000000000000000" pitchFamily="2" charset="2"/>
              </a:rPr>
              <a:t> + Eisen</a:t>
            </a:r>
          </a:p>
          <a:p>
            <a:pPr marL="0" indent="0">
              <a:buNone/>
            </a:pPr>
            <a:r>
              <a:rPr lang="en-GB" dirty="0">
                <a:sym typeface="Wingdings" panose="05000000000000000000" pitchFamily="2" charset="2"/>
              </a:rPr>
              <a:t>5. Laten </a:t>
            </a:r>
            <a:r>
              <a:rPr lang="en-GB" dirty="0" err="1">
                <a:sym typeface="Wingdings" panose="05000000000000000000" pitchFamily="2" charset="2"/>
              </a:rPr>
              <a:t>zien</a:t>
            </a:r>
            <a:r>
              <a:rPr lang="en-GB" dirty="0">
                <a:sym typeface="Wingdings" panose="05000000000000000000" pitchFamily="2" charset="2"/>
              </a:rPr>
              <a:t> </a:t>
            </a:r>
            <a:r>
              <a:rPr lang="en-GB" dirty="0" err="1">
                <a:sym typeface="Wingdings" panose="05000000000000000000" pitchFamily="2" charset="2"/>
              </a:rPr>
              <a:t>schalen</a:t>
            </a:r>
            <a:r>
              <a:rPr lang="en-GB" dirty="0">
                <a:sym typeface="Wingdings" panose="05000000000000000000" pitchFamily="2" charset="2"/>
              </a:rPr>
              <a:t> in </a:t>
            </a:r>
            <a:r>
              <a:rPr lang="en-GB" dirty="0" err="1">
                <a:sym typeface="Wingdings" panose="05000000000000000000" pitchFamily="2" charset="2"/>
              </a:rPr>
              <a:t>praktijk</a:t>
            </a:r>
            <a:r>
              <a:rPr lang="en-GB" dirty="0">
                <a:sym typeface="Wingdings" panose="05000000000000000000" pitchFamily="2" charset="2"/>
              </a:rPr>
              <a:t> </a:t>
            </a:r>
            <a:r>
              <a:rPr lang="en-GB" dirty="0" err="1">
                <a:sym typeface="Wingdings" panose="05000000000000000000" pitchFamily="2" charset="2"/>
              </a:rPr>
              <a:t>werkt</a:t>
            </a:r>
            <a:r>
              <a:rPr lang="en-GB" dirty="0">
                <a:sym typeface="Wingdings" panose="05000000000000000000" pitchFamily="2" charset="2"/>
              </a:rPr>
              <a:t> + </a:t>
            </a:r>
            <a:r>
              <a:rPr lang="en-GB" dirty="0" err="1">
                <a:sym typeface="Wingdings" panose="05000000000000000000" pitchFamily="2" charset="2"/>
              </a:rPr>
              <a:t>realtime</a:t>
            </a:r>
            <a:r>
              <a:rPr lang="en-GB" dirty="0">
                <a:sym typeface="Wingdings" panose="05000000000000000000" pitchFamily="2" charset="2"/>
              </a:rPr>
              <a:t> data-</a:t>
            </a:r>
            <a:r>
              <a:rPr lang="en-GB" dirty="0" err="1">
                <a:sym typeface="Wingdings" panose="05000000000000000000" pitchFamily="2" charset="2"/>
              </a:rPr>
              <a:t>verwerking</a:t>
            </a:r>
            <a:r>
              <a:rPr lang="en-GB" dirty="0">
                <a:sym typeface="Wingdings" panose="05000000000000000000" pitchFamily="2" charset="2"/>
              </a:rPr>
              <a:t> </a:t>
            </a:r>
            <a:r>
              <a:rPr lang="en-GB" dirty="0" err="1">
                <a:sym typeface="Wingdings" panose="05000000000000000000" pitchFamily="2" charset="2"/>
              </a:rPr>
              <a:t>haalbaar</a:t>
            </a:r>
            <a:r>
              <a:rPr lang="en-GB" dirty="0">
                <a:sym typeface="Wingdings" panose="05000000000000000000" pitchFamily="2" charset="2"/>
              </a:rPr>
              <a:t> + </a:t>
            </a:r>
            <a:r>
              <a:rPr lang="en-GB" dirty="0" err="1">
                <a:sym typeface="Wingdings" panose="05000000000000000000" pitchFamily="2" charset="2"/>
              </a:rPr>
              <a:t>uitval</a:t>
            </a:r>
            <a:r>
              <a:rPr lang="en-GB" dirty="0">
                <a:sym typeface="Wingdings" panose="05000000000000000000" pitchFamily="2" charset="2"/>
              </a:rPr>
              <a:t> </a:t>
            </a:r>
            <a:r>
              <a:rPr lang="en-GB" dirty="0" err="1">
                <a:sym typeface="Wingdings" panose="05000000000000000000" pitchFamily="2" charset="2"/>
              </a:rPr>
              <a:t>niet</a:t>
            </a:r>
            <a:r>
              <a:rPr lang="en-GB" dirty="0">
                <a:sym typeface="Wingdings" panose="05000000000000000000" pitchFamily="2" charset="2"/>
              </a:rPr>
              <a:t> </a:t>
            </a:r>
            <a:r>
              <a:rPr lang="en-GB" dirty="0" err="1">
                <a:sym typeface="Wingdings" panose="05000000000000000000" pitchFamily="2" charset="2"/>
              </a:rPr>
              <a:t>leiden</a:t>
            </a:r>
            <a:r>
              <a:rPr lang="en-GB" dirty="0">
                <a:sym typeface="Wingdings" panose="05000000000000000000" pitchFamily="2" charset="2"/>
              </a:rPr>
              <a:t> tot </a:t>
            </a:r>
            <a:r>
              <a:rPr lang="en-GB" dirty="0" err="1">
                <a:sym typeface="Wingdings" panose="05000000000000000000" pitchFamily="2" charset="2"/>
              </a:rPr>
              <a:t>onbeschikbaarheid</a:t>
            </a:r>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sp>
        <p:nvSpPr>
          <p:cNvPr id="4" name="Tijdelijke aanduiding voor dianummer 3"/>
          <p:cNvSpPr>
            <a:spLocks noGrp="1"/>
          </p:cNvSpPr>
          <p:nvPr>
            <p:ph type="sldNum" sz="quarter" idx="5"/>
          </p:nvPr>
        </p:nvSpPr>
        <p:spPr/>
        <p:txBody>
          <a:bodyPr/>
          <a:lstStyle/>
          <a:p>
            <a:fld id="{68864823-6E7F-4E73-9AB0-25F8A9B54F4D}" type="slidenum">
              <a:rPr lang="en-GB" smtClean="0"/>
              <a:t>10</a:t>
            </a:fld>
            <a:endParaRPr lang="en-GB"/>
          </a:p>
        </p:txBody>
      </p:sp>
    </p:spTree>
    <p:extLst>
      <p:ext uri="{BB962C8B-B14F-4D97-AF65-F5344CB8AC3E}">
        <p14:creationId xmlns:p14="http://schemas.microsoft.com/office/powerpoint/2010/main" val="3438333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C133B0-F7DE-A365-4BB4-6A5E00D3FFBD}"/>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endParaRPr lang="en-GB"/>
          </a:p>
        </p:txBody>
      </p:sp>
      <p:sp>
        <p:nvSpPr>
          <p:cNvPr id="3" name="Ondertitel 2">
            <a:extLst>
              <a:ext uri="{FF2B5EF4-FFF2-40B4-BE49-F238E27FC236}">
                <a16:creationId xmlns:a16="http://schemas.microsoft.com/office/drawing/2014/main" id="{62B58D54-2395-7BDB-99A9-07554F2F42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en-GB"/>
          </a:p>
        </p:txBody>
      </p:sp>
      <p:sp>
        <p:nvSpPr>
          <p:cNvPr id="4" name="Tijdelijke aanduiding voor datum 3">
            <a:extLst>
              <a:ext uri="{FF2B5EF4-FFF2-40B4-BE49-F238E27FC236}">
                <a16:creationId xmlns:a16="http://schemas.microsoft.com/office/drawing/2014/main" id="{C5B34AF0-A93C-4108-9792-78FC97BB4099}"/>
              </a:ext>
            </a:extLst>
          </p:cNvPr>
          <p:cNvSpPr>
            <a:spLocks noGrp="1"/>
          </p:cNvSpPr>
          <p:nvPr>
            <p:ph type="dt" sz="half" idx="10"/>
          </p:nvPr>
        </p:nvSpPr>
        <p:spPr/>
        <p:txBody>
          <a:bodyPr/>
          <a:lstStyle/>
          <a:p>
            <a:fld id="{063F0D10-DFA9-4E8C-A965-FBF022177A38}" type="datetimeFigureOut">
              <a:rPr lang="en-GB" smtClean="0"/>
              <a:t>14/11/2025</a:t>
            </a:fld>
            <a:endParaRPr lang="en-GB"/>
          </a:p>
        </p:txBody>
      </p:sp>
      <p:sp>
        <p:nvSpPr>
          <p:cNvPr id="5" name="Tijdelijke aanduiding voor voettekst 4">
            <a:extLst>
              <a:ext uri="{FF2B5EF4-FFF2-40B4-BE49-F238E27FC236}">
                <a16:creationId xmlns:a16="http://schemas.microsoft.com/office/drawing/2014/main" id="{6D519EC4-8CCB-27A7-9D23-A7689B028B85}"/>
              </a:ext>
            </a:extLst>
          </p:cNvPr>
          <p:cNvSpPr>
            <a:spLocks noGrp="1"/>
          </p:cNvSpPr>
          <p:nvPr>
            <p:ph type="ftr" sz="quarter" idx="11"/>
          </p:nvPr>
        </p:nvSpPr>
        <p:spPr/>
        <p:txBody>
          <a:bodyPr/>
          <a:lstStyle/>
          <a:p>
            <a:endParaRPr lang="en-GB"/>
          </a:p>
        </p:txBody>
      </p:sp>
      <p:sp>
        <p:nvSpPr>
          <p:cNvPr id="6" name="Tijdelijke aanduiding voor dianummer 5">
            <a:extLst>
              <a:ext uri="{FF2B5EF4-FFF2-40B4-BE49-F238E27FC236}">
                <a16:creationId xmlns:a16="http://schemas.microsoft.com/office/drawing/2014/main" id="{45986AFE-F618-C57C-9F2C-E9146CBBF7B4}"/>
              </a:ext>
            </a:extLst>
          </p:cNvPr>
          <p:cNvSpPr>
            <a:spLocks noGrp="1"/>
          </p:cNvSpPr>
          <p:nvPr>
            <p:ph type="sldNum" sz="quarter" idx="12"/>
          </p:nvPr>
        </p:nvSpPr>
        <p:spPr/>
        <p:txBody>
          <a:bodyPr/>
          <a:lstStyle/>
          <a:p>
            <a:fld id="{A70AFA76-000B-4929-9F44-FDC648B57C66}" type="slidenum">
              <a:rPr lang="en-GB" smtClean="0"/>
              <a:t>‹nr.›</a:t>
            </a:fld>
            <a:endParaRPr lang="en-GB"/>
          </a:p>
        </p:txBody>
      </p:sp>
    </p:spTree>
    <p:extLst>
      <p:ext uri="{BB962C8B-B14F-4D97-AF65-F5344CB8AC3E}">
        <p14:creationId xmlns:p14="http://schemas.microsoft.com/office/powerpoint/2010/main" val="3821019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7D71C4-974A-503C-EA23-DC4463D5735C}"/>
              </a:ext>
            </a:extLst>
          </p:cNvPr>
          <p:cNvSpPr>
            <a:spLocks noGrp="1"/>
          </p:cNvSpPr>
          <p:nvPr>
            <p:ph type="title"/>
          </p:nvPr>
        </p:nvSpPr>
        <p:spPr/>
        <p:txBody>
          <a:bodyPr/>
          <a:lstStyle/>
          <a:p>
            <a:r>
              <a:rPr lang="nl-NL"/>
              <a:t>Klik om stijl te bewerken</a:t>
            </a:r>
            <a:endParaRPr lang="en-GB"/>
          </a:p>
        </p:txBody>
      </p:sp>
      <p:sp>
        <p:nvSpPr>
          <p:cNvPr id="3" name="Tijdelijke aanduiding voor inhoud 2">
            <a:extLst>
              <a:ext uri="{FF2B5EF4-FFF2-40B4-BE49-F238E27FC236}">
                <a16:creationId xmlns:a16="http://schemas.microsoft.com/office/drawing/2014/main" id="{E5B114E4-D815-AAE0-EFE1-61A72EC85FC4}"/>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4" name="Tijdelijke aanduiding voor datum 3">
            <a:extLst>
              <a:ext uri="{FF2B5EF4-FFF2-40B4-BE49-F238E27FC236}">
                <a16:creationId xmlns:a16="http://schemas.microsoft.com/office/drawing/2014/main" id="{57BE7DA5-EB27-0F82-4C93-764D0652CACC}"/>
              </a:ext>
            </a:extLst>
          </p:cNvPr>
          <p:cNvSpPr>
            <a:spLocks noGrp="1"/>
          </p:cNvSpPr>
          <p:nvPr>
            <p:ph type="dt" sz="half" idx="10"/>
          </p:nvPr>
        </p:nvSpPr>
        <p:spPr/>
        <p:txBody>
          <a:bodyPr/>
          <a:lstStyle/>
          <a:p>
            <a:fld id="{063F0D10-DFA9-4E8C-A965-FBF022177A38}" type="datetimeFigureOut">
              <a:rPr lang="en-GB" smtClean="0"/>
              <a:t>14/11/2025</a:t>
            </a:fld>
            <a:endParaRPr lang="en-GB"/>
          </a:p>
        </p:txBody>
      </p:sp>
      <p:sp>
        <p:nvSpPr>
          <p:cNvPr id="5" name="Tijdelijke aanduiding voor voettekst 4">
            <a:extLst>
              <a:ext uri="{FF2B5EF4-FFF2-40B4-BE49-F238E27FC236}">
                <a16:creationId xmlns:a16="http://schemas.microsoft.com/office/drawing/2014/main" id="{521C6826-6A1E-BFE2-2A4D-DA6764089E98}"/>
              </a:ext>
            </a:extLst>
          </p:cNvPr>
          <p:cNvSpPr>
            <a:spLocks noGrp="1"/>
          </p:cNvSpPr>
          <p:nvPr>
            <p:ph type="ftr" sz="quarter" idx="11"/>
          </p:nvPr>
        </p:nvSpPr>
        <p:spPr/>
        <p:txBody>
          <a:bodyPr/>
          <a:lstStyle/>
          <a:p>
            <a:endParaRPr lang="en-GB"/>
          </a:p>
        </p:txBody>
      </p:sp>
      <p:sp>
        <p:nvSpPr>
          <p:cNvPr id="6" name="Tijdelijke aanduiding voor dianummer 5">
            <a:extLst>
              <a:ext uri="{FF2B5EF4-FFF2-40B4-BE49-F238E27FC236}">
                <a16:creationId xmlns:a16="http://schemas.microsoft.com/office/drawing/2014/main" id="{58143CC7-64FD-3C87-29B3-F763CC95B01A}"/>
              </a:ext>
            </a:extLst>
          </p:cNvPr>
          <p:cNvSpPr>
            <a:spLocks noGrp="1"/>
          </p:cNvSpPr>
          <p:nvPr>
            <p:ph type="sldNum" sz="quarter" idx="12"/>
          </p:nvPr>
        </p:nvSpPr>
        <p:spPr/>
        <p:txBody>
          <a:bodyPr/>
          <a:lstStyle/>
          <a:p>
            <a:fld id="{A70AFA76-000B-4929-9F44-FDC648B57C66}" type="slidenum">
              <a:rPr lang="en-GB" smtClean="0"/>
              <a:t>‹nr.›</a:t>
            </a:fld>
            <a:endParaRPr lang="en-GB"/>
          </a:p>
        </p:txBody>
      </p:sp>
    </p:spTree>
    <p:extLst>
      <p:ext uri="{BB962C8B-B14F-4D97-AF65-F5344CB8AC3E}">
        <p14:creationId xmlns:p14="http://schemas.microsoft.com/office/powerpoint/2010/main" val="2693271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C7CE32-30DF-B2F9-0121-3735824A8D5F}"/>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endParaRPr lang="en-GB"/>
          </a:p>
        </p:txBody>
      </p:sp>
      <p:sp>
        <p:nvSpPr>
          <p:cNvPr id="3" name="Tijdelijke aanduiding voor tekst 2">
            <a:extLst>
              <a:ext uri="{FF2B5EF4-FFF2-40B4-BE49-F238E27FC236}">
                <a16:creationId xmlns:a16="http://schemas.microsoft.com/office/drawing/2014/main" id="{AE7EF481-2627-A27A-6DAE-8BE22DAB59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3F0D50D3-CBC1-88E1-3AB3-D6936B70FED5}"/>
              </a:ext>
            </a:extLst>
          </p:cNvPr>
          <p:cNvSpPr>
            <a:spLocks noGrp="1"/>
          </p:cNvSpPr>
          <p:nvPr>
            <p:ph type="dt" sz="half" idx="10"/>
          </p:nvPr>
        </p:nvSpPr>
        <p:spPr/>
        <p:txBody>
          <a:bodyPr/>
          <a:lstStyle/>
          <a:p>
            <a:fld id="{063F0D10-DFA9-4E8C-A965-FBF022177A38}" type="datetimeFigureOut">
              <a:rPr lang="en-GB" smtClean="0"/>
              <a:t>14/11/2025</a:t>
            </a:fld>
            <a:endParaRPr lang="en-GB"/>
          </a:p>
        </p:txBody>
      </p:sp>
      <p:sp>
        <p:nvSpPr>
          <p:cNvPr id="5" name="Tijdelijke aanduiding voor voettekst 4">
            <a:extLst>
              <a:ext uri="{FF2B5EF4-FFF2-40B4-BE49-F238E27FC236}">
                <a16:creationId xmlns:a16="http://schemas.microsoft.com/office/drawing/2014/main" id="{97A80F67-8862-2177-D965-667C657E63FE}"/>
              </a:ext>
            </a:extLst>
          </p:cNvPr>
          <p:cNvSpPr>
            <a:spLocks noGrp="1"/>
          </p:cNvSpPr>
          <p:nvPr>
            <p:ph type="ftr" sz="quarter" idx="11"/>
          </p:nvPr>
        </p:nvSpPr>
        <p:spPr/>
        <p:txBody>
          <a:bodyPr/>
          <a:lstStyle/>
          <a:p>
            <a:endParaRPr lang="en-GB"/>
          </a:p>
        </p:txBody>
      </p:sp>
      <p:sp>
        <p:nvSpPr>
          <p:cNvPr id="6" name="Tijdelijke aanduiding voor dianummer 5">
            <a:extLst>
              <a:ext uri="{FF2B5EF4-FFF2-40B4-BE49-F238E27FC236}">
                <a16:creationId xmlns:a16="http://schemas.microsoft.com/office/drawing/2014/main" id="{1DB5F274-FFE3-F0D6-F7E3-37D0DAF79E5B}"/>
              </a:ext>
            </a:extLst>
          </p:cNvPr>
          <p:cNvSpPr>
            <a:spLocks noGrp="1"/>
          </p:cNvSpPr>
          <p:nvPr>
            <p:ph type="sldNum" sz="quarter" idx="12"/>
          </p:nvPr>
        </p:nvSpPr>
        <p:spPr/>
        <p:txBody>
          <a:bodyPr/>
          <a:lstStyle/>
          <a:p>
            <a:fld id="{A70AFA76-000B-4929-9F44-FDC648B57C66}" type="slidenum">
              <a:rPr lang="en-GB" smtClean="0"/>
              <a:t>‹nr.›</a:t>
            </a:fld>
            <a:endParaRPr lang="en-GB"/>
          </a:p>
        </p:txBody>
      </p:sp>
    </p:spTree>
    <p:extLst>
      <p:ext uri="{BB962C8B-B14F-4D97-AF65-F5344CB8AC3E}">
        <p14:creationId xmlns:p14="http://schemas.microsoft.com/office/powerpoint/2010/main" val="1730727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CD5A01E-2190-6FEB-1807-673C77DDAD54}"/>
              </a:ext>
            </a:extLst>
          </p:cNvPr>
          <p:cNvSpPr>
            <a:spLocks noGrp="1"/>
          </p:cNvSpPr>
          <p:nvPr>
            <p:ph type="title"/>
          </p:nvPr>
        </p:nvSpPr>
        <p:spPr/>
        <p:txBody>
          <a:bodyPr/>
          <a:lstStyle/>
          <a:p>
            <a:r>
              <a:rPr lang="nl-NL"/>
              <a:t>Klik om stijl te bewerken</a:t>
            </a:r>
            <a:endParaRPr lang="en-GB"/>
          </a:p>
        </p:txBody>
      </p:sp>
      <p:sp>
        <p:nvSpPr>
          <p:cNvPr id="3" name="Tijdelijke aanduiding voor inhoud 2">
            <a:extLst>
              <a:ext uri="{FF2B5EF4-FFF2-40B4-BE49-F238E27FC236}">
                <a16:creationId xmlns:a16="http://schemas.microsoft.com/office/drawing/2014/main" id="{3556CBD0-C750-1BED-77E3-5F5F1F615C19}"/>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4" name="Tijdelijke aanduiding voor inhoud 3">
            <a:extLst>
              <a:ext uri="{FF2B5EF4-FFF2-40B4-BE49-F238E27FC236}">
                <a16:creationId xmlns:a16="http://schemas.microsoft.com/office/drawing/2014/main" id="{2C647198-E24D-2FD2-C527-A55E04815841}"/>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5" name="Tijdelijke aanduiding voor datum 4">
            <a:extLst>
              <a:ext uri="{FF2B5EF4-FFF2-40B4-BE49-F238E27FC236}">
                <a16:creationId xmlns:a16="http://schemas.microsoft.com/office/drawing/2014/main" id="{80C04FD7-5C68-0FB6-502D-679D0A7CF5B7}"/>
              </a:ext>
            </a:extLst>
          </p:cNvPr>
          <p:cNvSpPr>
            <a:spLocks noGrp="1"/>
          </p:cNvSpPr>
          <p:nvPr>
            <p:ph type="dt" sz="half" idx="10"/>
          </p:nvPr>
        </p:nvSpPr>
        <p:spPr/>
        <p:txBody>
          <a:bodyPr/>
          <a:lstStyle/>
          <a:p>
            <a:fld id="{063F0D10-DFA9-4E8C-A965-FBF022177A38}" type="datetimeFigureOut">
              <a:rPr lang="en-GB" smtClean="0"/>
              <a:t>14/11/2025</a:t>
            </a:fld>
            <a:endParaRPr lang="en-GB"/>
          </a:p>
        </p:txBody>
      </p:sp>
      <p:sp>
        <p:nvSpPr>
          <p:cNvPr id="6" name="Tijdelijke aanduiding voor voettekst 5">
            <a:extLst>
              <a:ext uri="{FF2B5EF4-FFF2-40B4-BE49-F238E27FC236}">
                <a16:creationId xmlns:a16="http://schemas.microsoft.com/office/drawing/2014/main" id="{6B954528-FBE9-05C6-9B23-310D138BC856}"/>
              </a:ext>
            </a:extLst>
          </p:cNvPr>
          <p:cNvSpPr>
            <a:spLocks noGrp="1"/>
          </p:cNvSpPr>
          <p:nvPr>
            <p:ph type="ftr" sz="quarter" idx="11"/>
          </p:nvPr>
        </p:nvSpPr>
        <p:spPr/>
        <p:txBody>
          <a:bodyPr/>
          <a:lstStyle/>
          <a:p>
            <a:endParaRPr lang="en-GB"/>
          </a:p>
        </p:txBody>
      </p:sp>
      <p:sp>
        <p:nvSpPr>
          <p:cNvPr id="7" name="Tijdelijke aanduiding voor dianummer 6">
            <a:extLst>
              <a:ext uri="{FF2B5EF4-FFF2-40B4-BE49-F238E27FC236}">
                <a16:creationId xmlns:a16="http://schemas.microsoft.com/office/drawing/2014/main" id="{34DA00D2-C86F-65E0-7B79-9D43B4CD1E37}"/>
              </a:ext>
            </a:extLst>
          </p:cNvPr>
          <p:cNvSpPr>
            <a:spLocks noGrp="1"/>
          </p:cNvSpPr>
          <p:nvPr>
            <p:ph type="sldNum" sz="quarter" idx="12"/>
          </p:nvPr>
        </p:nvSpPr>
        <p:spPr/>
        <p:txBody>
          <a:bodyPr/>
          <a:lstStyle/>
          <a:p>
            <a:fld id="{A70AFA76-000B-4929-9F44-FDC648B57C66}" type="slidenum">
              <a:rPr lang="en-GB" smtClean="0"/>
              <a:t>‹nr.›</a:t>
            </a:fld>
            <a:endParaRPr lang="en-GB"/>
          </a:p>
        </p:txBody>
      </p:sp>
    </p:spTree>
    <p:extLst>
      <p:ext uri="{BB962C8B-B14F-4D97-AF65-F5344CB8AC3E}">
        <p14:creationId xmlns:p14="http://schemas.microsoft.com/office/powerpoint/2010/main" val="1108894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47DDFA-F41D-C75A-6C4F-7FE684FAE4E7}"/>
              </a:ext>
            </a:extLst>
          </p:cNvPr>
          <p:cNvSpPr>
            <a:spLocks noGrp="1"/>
          </p:cNvSpPr>
          <p:nvPr>
            <p:ph type="title"/>
          </p:nvPr>
        </p:nvSpPr>
        <p:spPr>
          <a:xfrm>
            <a:off x="839788" y="365125"/>
            <a:ext cx="10515600" cy="1325563"/>
          </a:xfrm>
        </p:spPr>
        <p:txBody>
          <a:bodyPr/>
          <a:lstStyle/>
          <a:p>
            <a:r>
              <a:rPr lang="nl-NL"/>
              <a:t>Klik om stijl te bewerken</a:t>
            </a:r>
            <a:endParaRPr lang="en-GB"/>
          </a:p>
        </p:txBody>
      </p:sp>
      <p:sp>
        <p:nvSpPr>
          <p:cNvPr id="3" name="Tijdelijke aanduiding voor tekst 2">
            <a:extLst>
              <a:ext uri="{FF2B5EF4-FFF2-40B4-BE49-F238E27FC236}">
                <a16:creationId xmlns:a16="http://schemas.microsoft.com/office/drawing/2014/main" id="{46B63FF8-D08E-240F-C04B-24855950B7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C39366E6-558C-ED5F-1C98-0848396AB671}"/>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5" name="Tijdelijke aanduiding voor tekst 4">
            <a:extLst>
              <a:ext uri="{FF2B5EF4-FFF2-40B4-BE49-F238E27FC236}">
                <a16:creationId xmlns:a16="http://schemas.microsoft.com/office/drawing/2014/main" id="{6CE2449F-872F-E52A-891A-87213230B2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7A5AF4A1-2D66-F0D0-A5B8-D346E31D9BA4}"/>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 name="Tijdelijke aanduiding voor datum 6">
            <a:extLst>
              <a:ext uri="{FF2B5EF4-FFF2-40B4-BE49-F238E27FC236}">
                <a16:creationId xmlns:a16="http://schemas.microsoft.com/office/drawing/2014/main" id="{A1337E73-89C1-4D88-B047-A4B96AB00363}"/>
              </a:ext>
            </a:extLst>
          </p:cNvPr>
          <p:cNvSpPr>
            <a:spLocks noGrp="1"/>
          </p:cNvSpPr>
          <p:nvPr>
            <p:ph type="dt" sz="half" idx="10"/>
          </p:nvPr>
        </p:nvSpPr>
        <p:spPr/>
        <p:txBody>
          <a:bodyPr/>
          <a:lstStyle/>
          <a:p>
            <a:fld id="{063F0D10-DFA9-4E8C-A965-FBF022177A38}" type="datetimeFigureOut">
              <a:rPr lang="en-GB" smtClean="0"/>
              <a:t>14/11/2025</a:t>
            </a:fld>
            <a:endParaRPr lang="en-GB"/>
          </a:p>
        </p:txBody>
      </p:sp>
      <p:sp>
        <p:nvSpPr>
          <p:cNvPr id="8" name="Tijdelijke aanduiding voor voettekst 7">
            <a:extLst>
              <a:ext uri="{FF2B5EF4-FFF2-40B4-BE49-F238E27FC236}">
                <a16:creationId xmlns:a16="http://schemas.microsoft.com/office/drawing/2014/main" id="{BC1FAD58-76A0-34A7-562D-33D5B4DBC7D4}"/>
              </a:ext>
            </a:extLst>
          </p:cNvPr>
          <p:cNvSpPr>
            <a:spLocks noGrp="1"/>
          </p:cNvSpPr>
          <p:nvPr>
            <p:ph type="ftr" sz="quarter" idx="11"/>
          </p:nvPr>
        </p:nvSpPr>
        <p:spPr/>
        <p:txBody>
          <a:bodyPr/>
          <a:lstStyle/>
          <a:p>
            <a:endParaRPr lang="en-GB"/>
          </a:p>
        </p:txBody>
      </p:sp>
      <p:sp>
        <p:nvSpPr>
          <p:cNvPr id="9" name="Tijdelijke aanduiding voor dianummer 8">
            <a:extLst>
              <a:ext uri="{FF2B5EF4-FFF2-40B4-BE49-F238E27FC236}">
                <a16:creationId xmlns:a16="http://schemas.microsoft.com/office/drawing/2014/main" id="{85E8145D-05E1-26E3-94FD-57D2EC9C9DDD}"/>
              </a:ext>
            </a:extLst>
          </p:cNvPr>
          <p:cNvSpPr>
            <a:spLocks noGrp="1"/>
          </p:cNvSpPr>
          <p:nvPr>
            <p:ph type="sldNum" sz="quarter" idx="12"/>
          </p:nvPr>
        </p:nvSpPr>
        <p:spPr/>
        <p:txBody>
          <a:bodyPr/>
          <a:lstStyle/>
          <a:p>
            <a:fld id="{A70AFA76-000B-4929-9F44-FDC648B57C66}" type="slidenum">
              <a:rPr lang="en-GB" smtClean="0"/>
              <a:t>‹nr.›</a:t>
            </a:fld>
            <a:endParaRPr lang="en-GB"/>
          </a:p>
        </p:txBody>
      </p:sp>
    </p:spTree>
    <p:extLst>
      <p:ext uri="{BB962C8B-B14F-4D97-AF65-F5344CB8AC3E}">
        <p14:creationId xmlns:p14="http://schemas.microsoft.com/office/powerpoint/2010/main" val="2652625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D2256D-2C72-49A9-501A-A1AE98860ED7}"/>
              </a:ext>
            </a:extLst>
          </p:cNvPr>
          <p:cNvSpPr>
            <a:spLocks noGrp="1"/>
          </p:cNvSpPr>
          <p:nvPr>
            <p:ph type="title"/>
          </p:nvPr>
        </p:nvSpPr>
        <p:spPr/>
        <p:txBody>
          <a:bodyPr/>
          <a:lstStyle/>
          <a:p>
            <a:r>
              <a:rPr lang="nl-NL"/>
              <a:t>Klik om stijl te bewerken</a:t>
            </a:r>
            <a:endParaRPr lang="en-GB"/>
          </a:p>
        </p:txBody>
      </p:sp>
      <p:sp>
        <p:nvSpPr>
          <p:cNvPr id="3" name="Tijdelijke aanduiding voor datum 2">
            <a:extLst>
              <a:ext uri="{FF2B5EF4-FFF2-40B4-BE49-F238E27FC236}">
                <a16:creationId xmlns:a16="http://schemas.microsoft.com/office/drawing/2014/main" id="{C7FA3B4E-F59D-A08D-FF9F-47565CA33621}"/>
              </a:ext>
            </a:extLst>
          </p:cNvPr>
          <p:cNvSpPr>
            <a:spLocks noGrp="1"/>
          </p:cNvSpPr>
          <p:nvPr>
            <p:ph type="dt" sz="half" idx="10"/>
          </p:nvPr>
        </p:nvSpPr>
        <p:spPr/>
        <p:txBody>
          <a:bodyPr/>
          <a:lstStyle/>
          <a:p>
            <a:fld id="{063F0D10-DFA9-4E8C-A965-FBF022177A38}" type="datetimeFigureOut">
              <a:rPr lang="en-GB" smtClean="0"/>
              <a:t>14/11/2025</a:t>
            </a:fld>
            <a:endParaRPr lang="en-GB"/>
          </a:p>
        </p:txBody>
      </p:sp>
      <p:sp>
        <p:nvSpPr>
          <p:cNvPr id="4" name="Tijdelijke aanduiding voor voettekst 3">
            <a:extLst>
              <a:ext uri="{FF2B5EF4-FFF2-40B4-BE49-F238E27FC236}">
                <a16:creationId xmlns:a16="http://schemas.microsoft.com/office/drawing/2014/main" id="{2CEFC4AC-3101-DF20-F119-42FF056C86AC}"/>
              </a:ext>
            </a:extLst>
          </p:cNvPr>
          <p:cNvSpPr>
            <a:spLocks noGrp="1"/>
          </p:cNvSpPr>
          <p:nvPr>
            <p:ph type="ftr" sz="quarter" idx="11"/>
          </p:nvPr>
        </p:nvSpPr>
        <p:spPr/>
        <p:txBody>
          <a:bodyPr/>
          <a:lstStyle/>
          <a:p>
            <a:endParaRPr lang="en-GB"/>
          </a:p>
        </p:txBody>
      </p:sp>
      <p:sp>
        <p:nvSpPr>
          <p:cNvPr id="5" name="Tijdelijke aanduiding voor dianummer 4">
            <a:extLst>
              <a:ext uri="{FF2B5EF4-FFF2-40B4-BE49-F238E27FC236}">
                <a16:creationId xmlns:a16="http://schemas.microsoft.com/office/drawing/2014/main" id="{287CCB6C-2350-FE82-005A-D7E10E2B9230}"/>
              </a:ext>
            </a:extLst>
          </p:cNvPr>
          <p:cNvSpPr>
            <a:spLocks noGrp="1"/>
          </p:cNvSpPr>
          <p:nvPr>
            <p:ph type="sldNum" sz="quarter" idx="12"/>
          </p:nvPr>
        </p:nvSpPr>
        <p:spPr/>
        <p:txBody>
          <a:bodyPr/>
          <a:lstStyle/>
          <a:p>
            <a:fld id="{A70AFA76-000B-4929-9F44-FDC648B57C66}" type="slidenum">
              <a:rPr lang="en-GB" smtClean="0"/>
              <a:t>‹nr.›</a:t>
            </a:fld>
            <a:endParaRPr lang="en-GB"/>
          </a:p>
        </p:txBody>
      </p:sp>
    </p:spTree>
    <p:extLst>
      <p:ext uri="{BB962C8B-B14F-4D97-AF65-F5344CB8AC3E}">
        <p14:creationId xmlns:p14="http://schemas.microsoft.com/office/powerpoint/2010/main" val="1518080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CC9DD259-3FF9-E4FA-12C2-E074FB58CC7B}"/>
              </a:ext>
            </a:extLst>
          </p:cNvPr>
          <p:cNvSpPr>
            <a:spLocks noGrp="1"/>
          </p:cNvSpPr>
          <p:nvPr>
            <p:ph type="dt" sz="half" idx="10"/>
          </p:nvPr>
        </p:nvSpPr>
        <p:spPr/>
        <p:txBody>
          <a:bodyPr/>
          <a:lstStyle/>
          <a:p>
            <a:fld id="{063F0D10-DFA9-4E8C-A965-FBF022177A38}" type="datetimeFigureOut">
              <a:rPr lang="en-GB" smtClean="0"/>
              <a:t>14/11/2025</a:t>
            </a:fld>
            <a:endParaRPr lang="en-GB"/>
          </a:p>
        </p:txBody>
      </p:sp>
      <p:sp>
        <p:nvSpPr>
          <p:cNvPr id="3" name="Tijdelijke aanduiding voor voettekst 2">
            <a:extLst>
              <a:ext uri="{FF2B5EF4-FFF2-40B4-BE49-F238E27FC236}">
                <a16:creationId xmlns:a16="http://schemas.microsoft.com/office/drawing/2014/main" id="{6C0878DC-A341-77B1-6F6F-50DDAC79F896}"/>
              </a:ext>
            </a:extLst>
          </p:cNvPr>
          <p:cNvSpPr>
            <a:spLocks noGrp="1"/>
          </p:cNvSpPr>
          <p:nvPr>
            <p:ph type="ftr" sz="quarter" idx="11"/>
          </p:nvPr>
        </p:nvSpPr>
        <p:spPr/>
        <p:txBody>
          <a:bodyPr/>
          <a:lstStyle/>
          <a:p>
            <a:endParaRPr lang="en-GB"/>
          </a:p>
        </p:txBody>
      </p:sp>
      <p:sp>
        <p:nvSpPr>
          <p:cNvPr id="4" name="Tijdelijke aanduiding voor dianummer 3">
            <a:extLst>
              <a:ext uri="{FF2B5EF4-FFF2-40B4-BE49-F238E27FC236}">
                <a16:creationId xmlns:a16="http://schemas.microsoft.com/office/drawing/2014/main" id="{04BDEC0C-B7AF-EA86-AD6E-913C186E6B57}"/>
              </a:ext>
            </a:extLst>
          </p:cNvPr>
          <p:cNvSpPr>
            <a:spLocks noGrp="1"/>
          </p:cNvSpPr>
          <p:nvPr>
            <p:ph type="sldNum" sz="quarter" idx="12"/>
          </p:nvPr>
        </p:nvSpPr>
        <p:spPr/>
        <p:txBody>
          <a:bodyPr/>
          <a:lstStyle/>
          <a:p>
            <a:fld id="{A70AFA76-000B-4929-9F44-FDC648B57C66}" type="slidenum">
              <a:rPr lang="en-GB" smtClean="0"/>
              <a:t>‹nr.›</a:t>
            </a:fld>
            <a:endParaRPr lang="en-GB"/>
          </a:p>
        </p:txBody>
      </p:sp>
    </p:spTree>
    <p:extLst>
      <p:ext uri="{BB962C8B-B14F-4D97-AF65-F5344CB8AC3E}">
        <p14:creationId xmlns:p14="http://schemas.microsoft.com/office/powerpoint/2010/main" val="1160581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EF1C81-5D24-E9E3-CFB9-58C955672685}"/>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en-GB"/>
          </a:p>
        </p:txBody>
      </p:sp>
      <p:sp>
        <p:nvSpPr>
          <p:cNvPr id="3" name="Tijdelijke aanduiding voor inhoud 2">
            <a:extLst>
              <a:ext uri="{FF2B5EF4-FFF2-40B4-BE49-F238E27FC236}">
                <a16:creationId xmlns:a16="http://schemas.microsoft.com/office/drawing/2014/main" id="{B584FC84-0F32-CE9A-E047-0AFD80D77E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4" name="Tijdelijke aanduiding voor tekst 3">
            <a:extLst>
              <a:ext uri="{FF2B5EF4-FFF2-40B4-BE49-F238E27FC236}">
                <a16:creationId xmlns:a16="http://schemas.microsoft.com/office/drawing/2014/main" id="{35D6C747-85C2-6C1C-69BA-66DE8EAC92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0A217627-4B4F-559D-D618-BFFCBE77AA5B}"/>
              </a:ext>
            </a:extLst>
          </p:cNvPr>
          <p:cNvSpPr>
            <a:spLocks noGrp="1"/>
          </p:cNvSpPr>
          <p:nvPr>
            <p:ph type="dt" sz="half" idx="10"/>
          </p:nvPr>
        </p:nvSpPr>
        <p:spPr/>
        <p:txBody>
          <a:bodyPr/>
          <a:lstStyle/>
          <a:p>
            <a:fld id="{063F0D10-DFA9-4E8C-A965-FBF022177A38}" type="datetimeFigureOut">
              <a:rPr lang="en-GB" smtClean="0"/>
              <a:t>14/11/2025</a:t>
            </a:fld>
            <a:endParaRPr lang="en-GB"/>
          </a:p>
        </p:txBody>
      </p:sp>
      <p:sp>
        <p:nvSpPr>
          <p:cNvPr id="6" name="Tijdelijke aanduiding voor voettekst 5">
            <a:extLst>
              <a:ext uri="{FF2B5EF4-FFF2-40B4-BE49-F238E27FC236}">
                <a16:creationId xmlns:a16="http://schemas.microsoft.com/office/drawing/2014/main" id="{06EFB8ED-90CA-02E1-EEA6-1D9716AF9A9C}"/>
              </a:ext>
            </a:extLst>
          </p:cNvPr>
          <p:cNvSpPr>
            <a:spLocks noGrp="1"/>
          </p:cNvSpPr>
          <p:nvPr>
            <p:ph type="ftr" sz="quarter" idx="11"/>
          </p:nvPr>
        </p:nvSpPr>
        <p:spPr/>
        <p:txBody>
          <a:bodyPr/>
          <a:lstStyle/>
          <a:p>
            <a:endParaRPr lang="en-GB"/>
          </a:p>
        </p:txBody>
      </p:sp>
      <p:sp>
        <p:nvSpPr>
          <p:cNvPr id="7" name="Tijdelijke aanduiding voor dianummer 6">
            <a:extLst>
              <a:ext uri="{FF2B5EF4-FFF2-40B4-BE49-F238E27FC236}">
                <a16:creationId xmlns:a16="http://schemas.microsoft.com/office/drawing/2014/main" id="{EF0203E1-BF5A-B259-135A-3DCEFB5F8941}"/>
              </a:ext>
            </a:extLst>
          </p:cNvPr>
          <p:cNvSpPr>
            <a:spLocks noGrp="1"/>
          </p:cNvSpPr>
          <p:nvPr>
            <p:ph type="sldNum" sz="quarter" idx="12"/>
          </p:nvPr>
        </p:nvSpPr>
        <p:spPr/>
        <p:txBody>
          <a:bodyPr/>
          <a:lstStyle/>
          <a:p>
            <a:fld id="{A70AFA76-000B-4929-9F44-FDC648B57C66}" type="slidenum">
              <a:rPr lang="en-GB" smtClean="0"/>
              <a:t>‹nr.›</a:t>
            </a:fld>
            <a:endParaRPr lang="en-GB"/>
          </a:p>
        </p:txBody>
      </p:sp>
    </p:spTree>
    <p:extLst>
      <p:ext uri="{BB962C8B-B14F-4D97-AF65-F5344CB8AC3E}">
        <p14:creationId xmlns:p14="http://schemas.microsoft.com/office/powerpoint/2010/main" val="969709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5403043-0FF1-60D2-3B6C-6DB095C00362}"/>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en-GB"/>
          </a:p>
        </p:txBody>
      </p:sp>
      <p:sp>
        <p:nvSpPr>
          <p:cNvPr id="3" name="Tijdelijke aanduiding voor afbeelding 2">
            <a:extLst>
              <a:ext uri="{FF2B5EF4-FFF2-40B4-BE49-F238E27FC236}">
                <a16:creationId xmlns:a16="http://schemas.microsoft.com/office/drawing/2014/main" id="{D95B7C08-51A7-45DD-2EE8-186A27BBF8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ijdelijke aanduiding voor tekst 3">
            <a:extLst>
              <a:ext uri="{FF2B5EF4-FFF2-40B4-BE49-F238E27FC236}">
                <a16:creationId xmlns:a16="http://schemas.microsoft.com/office/drawing/2014/main" id="{8CAF2BE0-ABD0-6E43-97DB-D1647C6518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C2145810-730D-1C35-0E25-220366054034}"/>
              </a:ext>
            </a:extLst>
          </p:cNvPr>
          <p:cNvSpPr>
            <a:spLocks noGrp="1"/>
          </p:cNvSpPr>
          <p:nvPr>
            <p:ph type="dt" sz="half" idx="10"/>
          </p:nvPr>
        </p:nvSpPr>
        <p:spPr/>
        <p:txBody>
          <a:bodyPr/>
          <a:lstStyle/>
          <a:p>
            <a:fld id="{063F0D10-DFA9-4E8C-A965-FBF022177A38}" type="datetimeFigureOut">
              <a:rPr lang="en-GB" smtClean="0"/>
              <a:t>14/11/2025</a:t>
            </a:fld>
            <a:endParaRPr lang="en-GB"/>
          </a:p>
        </p:txBody>
      </p:sp>
      <p:sp>
        <p:nvSpPr>
          <p:cNvPr id="6" name="Tijdelijke aanduiding voor voettekst 5">
            <a:extLst>
              <a:ext uri="{FF2B5EF4-FFF2-40B4-BE49-F238E27FC236}">
                <a16:creationId xmlns:a16="http://schemas.microsoft.com/office/drawing/2014/main" id="{94660581-F063-AD16-C223-6D4CAE35BA9D}"/>
              </a:ext>
            </a:extLst>
          </p:cNvPr>
          <p:cNvSpPr>
            <a:spLocks noGrp="1"/>
          </p:cNvSpPr>
          <p:nvPr>
            <p:ph type="ftr" sz="quarter" idx="11"/>
          </p:nvPr>
        </p:nvSpPr>
        <p:spPr/>
        <p:txBody>
          <a:bodyPr/>
          <a:lstStyle/>
          <a:p>
            <a:endParaRPr lang="en-GB"/>
          </a:p>
        </p:txBody>
      </p:sp>
      <p:sp>
        <p:nvSpPr>
          <p:cNvPr id="7" name="Tijdelijke aanduiding voor dianummer 6">
            <a:extLst>
              <a:ext uri="{FF2B5EF4-FFF2-40B4-BE49-F238E27FC236}">
                <a16:creationId xmlns:a16="http://schemas.microsoft.com/office/drawing/2014/main" id="{3BFEF2BB-AA2C-FFC7-F9DC-AAC13520E0E5}"/>
              </a:ext>
            </a:extLst>
          </p:cNvPr>
          <p:cNvSpPr>
            <a:spLocks noGrp="1"/>
          </p:cNvSpPr>
          <p:nvPr>
            <p:ph type="sldNum" sz="quarter" idx="12"/>
          </p:nvPr>
        </p:nvSpPr>
        <p:spPr/>
        <p:txBody>
          <a:bodyPr/>
          <a:lstStyle/>
          <a:p>
            <a:fld id="{A70AFA76-000B-4929-9F44-FDC648B57C66}" type="slidenum">
              <a:rPr lang="en-GB" smtClean="0"/>
              <a:t>‹nr.›</a:t>
            </a:fld>
            <a:endParaRPr lang="en-GB"/>
          </a:p>
        </p:txBody>
      </p:sp>
    </p:spTree>
    <p:extLst>
      <p:ext uri="{BB962C8B-B14F-4D97-AF65-F5344CB8AC3E}">
        <p14:creationId xmlns:p14="http://schemas.microsoft.com/office/powerpoint/2010/main" val="3431603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0828F0-A4E7-15B9-D2EE-A211DE9138C0}"/>
              </a:ext>
            </a:extLst>
          </p:cNvPr>
          <p:cNvSpPr>
            <a:spLocks noGrp="1"/>
          </p:cNvSpPr>
          <p:nvPr>
            <p:ph type="title"/>
          </p:nvPr>
        </p:nvSpPr>
        <p:spPr/>
        <p:txBody>
          <a:bodyPr/>
          <a:lstStyle/>
          <a:p>
            <a:r>
              <a:rPr lang="nl-NL"/>
              <a:t>Klik om stijl te bewerken</a:t>
            </a:r>
            <a:endParaRPr lang="en-GB"/>
          </a:p>
        </p:txBody>
      </p:sp>
      <p:sp>
        <p:nvSpPr>
          <p:cNvPr id="3" name="Tijdelijke aanduiding voor verticale tekst 2">
            <a:extLst>
              <a:ext uri="{FF2B5EF4-FFF2-40B4-BE49-F238E27FC236}">
                <a16:creationId xmlns:a16="http://schemas.microsoft.com/office/drawing/2014/main" id="{578541A4-53C6-0D2D-E431-D327325D915B}"/>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4" name="Tijdelijke aanduiding voor datum 3">
            <a:extLst>
              <a:ext uri="{FF2B5EF4-FFF2-40B4-BE49-F238E27FC236}">
                <a16:creationId xmlns:a16="http://schemas.microsoft.com/office/drawing/2014/main" id="{48932038-F3A6-101D-99BC-DBB47BEBABE4}"/>
              </a:ext>
            </a:extLst>
          </p:cNvPr>
          <p:cNvSpPr>
            <a:spLocks noGrp="1"/>
          </p:cNvSpPr>
          <p:nvPr>
            <p:ph type="dt" sz="half" idx="10"/>
          </p:nvPr>
        </p:nvSpPr>
        <p:spPr/>
        <p:txBody>
          <a:bodyPr/>
          <a:lstStyle/>
          <a:p>
            <a:fld id="{063F0D10-DFA9-4E8C-A965-FBF022177A38}" type="datetimeFigureOut">
              <a:rPr lang="en-GB" smtClean="0"/>
              <a:t>14/11/2025</a:t>
            </a:fld>
            <a:endParaRPr lang="en-GB"/>
          </a:p>
        </p:txBody>
      </p:sp>
      <p:sp>
        <p:nvSpPr>
          <p:cNvPr id="5" name="Tijdelijke aanduiding voor voettekst 4">
            <a:extLst>
              <a:ext uri="{FF2B5EF4-FFF2-40B4-BE49-F238E27FC236}">
                <a16:creationId xmlns:a16="http://schemas.microsoft.com/office/drawing/2014/main" id="{3780396A-461B-F636-A12E-1A052AC1BBDF}"/>
              </a:ext>
            </a:extLst>
          </p:cNvPr>
          <p:cNvSpPr>
            <a:spLocks noGrp="1"/>
          </p:cNvSpPr>
          <p:nvPr>
            <p:ph type="ftr" sz="quarter" idx="11"/>
          </p:nvPr>
        </p:nvSpPr>
        <p:spPr/>
        <p:txBody>
          <a:bodyPr/>
          <a:lstStyle/>
          <a:p>
            <a:endParaRPr lang="en-GB"/>
          </a:p>
        </p:txBody>
      </p:sp>
      <p:sp>
        <p:nvSpPr>
          <p:cNvPr id="6" name="Tijdelijke aanduiding voor dianummer 5">
            <a:extLst>
              <a:ext uri="{FF2B5EF4-FFF2-40B4-BE49-F238E27FC236}">
                <a16:creationId xmlns:a16="http://schemas.microsoft.com/office/drawing/2014/main" id="{8598B364-2A87-8B06-ACDE-7331A4F6DC29}"/>
              </a:ext>
            </a:extLst>
          </p:cNvPr>
          <p:cNvSpPr>
            <a:spLocks noGrp="1"/>
          </p:cNvSpPr>
          <p:nvPr>
            <p:ph type="sldNum" sz="quarter" idx="12"/>
          </p:nvPr>
        </p:nvSpPr>
        <p:spPr/>
        <p:txBody>
          <a:bodyPr/>
          <a:lstStyle/>
          <a:p>
            <a:fld id="{A70AFA76-000B-4929-9F44-FDC648B57C66}" type="slidenum">
              <a:rPr lang="en-GB" smtClean="0"/>
              <a:t>‹nr.›</a:t>
            </a:fld>
            <a:endParaRPr lang="en-GB"/>
          </a:p>
        </p:txBody>
      </p:sp>
    </p:spTree>
    <p:extLst>
      <p:ext uri="{BB962C8B-B14F-4D97-AF65-F5344CB8AC3E}">
        <p14:creationId xmlns:p14="http://schemas.microsoft.com/office/powerpoint/2010/main" val="3757747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41DBFEC8-F510-6D5D-5F2B-B85F7C7ADA6E}"/>
              </a:ext>
            </a:extLst>
          </p:cNvPr>
          <p:cNvSpPr>
            <a:spLocks noGrp="1"/>
          </p:cNvSpPr>
          <p:nvPr>
            <p:ph type="title" orient="vert"/>
          </p:nvPr>
        </p:nvSpPr>
        <p:spPr>
          <a:xfrm>
            <a:off x="8724900" y="365125"/>
            <a:ext cx="2628900" cy="5811838"/>
          </a:xfrm>
        </p:spPr>
        <p:txBody>
          <a:bodyPr vert="eaVert"/>
          <a:lstStyle/>
          <a:p>
            <a:r>
              <a:rPr lang="nl-NL"/>
              <a:t>Klik om stijl te bewerken</a:t>
            </a:r>
            <a:endParaRPr lang="en-GB"/>
          </a:p>
        </p:txBody>
      </p:sp>
      <p:sp>
        <p:nvSpPr>
          <p:cNvPr id="3" name="Tijdelijke aanduiding voor verticale tekst 2">
            <a:extLst>
              <a:ext uri="{FF2B5EF4-FFF2-40B4-BE49-F238E27FC236}">
                <a16:creationId xmlns:a16="http://schemas.microsoft.com/office/drawing/2014/main" id="{33CF0755-DC40-0A3D-41F6-BF139D10EAC0}"/>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4" name="Tijdelijke aanduiding voor datum 3">
            <a:extLst>
              <a:ext uri="{FF2B5EF4-FFF2-40B4-BE49-F238E27FC236}">
                <a16:creationId xmlns:a16="http://schemas.microsoft.com/office/drawing/2014/main" id="{E26169E5-7F5C-0E04-69FB-4DC99C0BDF1A}"/>
              </a:ext>
            </a:extLst>
          </p:cNvPr>
          <p:cNvSpPr>
            <a:spLocks noGrp="1"/>
          </p:cNvSpPr>
          <p:nvPr>
            <p:ph type="dt" sz="half" idx="10"/>
          </p:nvPr>
        </p:nvSpPr>
        <p:spPr/>
        <p:txBody>
          <a:bodyPr/>
          <a:lstStyle/>
          <a:p>
            <a:fld id="{063F0D10-DFA9-4E8C-A965-FBF022177A38}" type="datetimeFigureOut">
              <a:rPr lang="en-GB" smtClean="0"/>
              <a:t>14/11/2025</a:t>
            </a:fld>
            <a:endParaRPr lang="en-GB"/>
          </a:p>
        </p:txBody>
      </p:sp>
      <p:sp>
        <p:nvSpPr>
          <p:cNvPr id="5" name="Tijdelijke aanduiding voor voettekst 4">
            <a:extLst>
              <a:ext uri="{FF2B5EF4-FFF2-40B4-BE49-F238E27FC236}">
                <a16:creationId xmlns:a16="http://schemas.microsoft.com/office/drawing/2014/main" id="{67CD431A-421B-CD62-CAF0-53FD130168E0}"/>
              </a:ext>
            </a:extLst>
          </p:cNvPr>
          <p:cNvSpPr>
            <a:spLocks noGrp="1"/>
          </p:cNvSpPr>
          <p:nvPr>
            <p:ph type="ftr" sz="quarter" idx="11"/>
          </p:nvPr>
        </p:nvSpPr>
        <p:spPr/>
        <p:txBody>
          <a:bodyPr/>
          <a:lstStyle/>
          <a:p>
            <a:endParaRPr lang="en-GB"/>
          </a:p>
        </p:txBody>
      </p:sp>
      <p:sp>
        <p:nvSpPr>
          <p:cNvPr id="6" name="Tijdelijke aanduiding voor dianummer 5">
            <a:extLst>
              <a:ext uri="{FF2B5EF4-FFF2-40B4-BE49-F238E27FC236}">
                <a16:creationId xmlns:a16="http://schemas.microsoft.com/office/drawing/2014/main" id="{74BE02D7-2EA8-A5BC-E644-31B5A4EE6278}"/>
              </a:ext>
            </a:extLst>
          </p:cNvPr>
          <p:cNvSpPr>
            <a:spLocks noGrp="1"/>
          </p:cNvSpPr>
          <p:nvPr>
            <p:ph type="sldNum" sz="quarter" idx="12"/>
          </p:nvPr>
        </p:nvSpPr>
        <p:spPr/>
        <p:txBody>
          <a:bodyPr/>
          <a:lstStyle/>
          <a:p>
            <a:fld id="{A70AFA76-000B-4929-9F44-FDC648B57C66}" type="slidenum">
              <a:rPr lang="en-GB" smtClean="0"/>
              <a:t>‹nr.›</a:t>
            </a:fld>
            <a:endParaRPr lang="en-GB"/>
          </a:p>
        </p:txBody>
      </p:sp>
    </p:spTree>
    <p:extLst>
      <p:ext uri="{BB962C8B-B14F-4D97-AF65-F5344CB8AC3E}">
        <p14:creationId xmlns:p14="http://schemas.microsoft.com/office/powerpoint/2010/main" val="981262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EF65132B-8C9F-3306-84A7-7D910D0B13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en-GB"/>
          </a:p>
        </p:txBody>
      </p:sp>
      <p:sp>
        <p:nvSpPr>
          <p:cNvPr id="3" name="Tijdelijke aanduiding voor tekst 2">
            <a:extLst>
              <a:ext uri="{FF2B5EF4-FFF2-40B4-BE49-F238E27FC236}">
                <a16:creationId xmlns:a16="http://schemas.microsoft.com/office/drawing/2014/main" id="{229E04C0-C8AD-C50C-C6C3-7D3C6005AB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4" name="Tijdelijke aanduiding voor datum 3">
            <a:extLst>
              <a:ext uri="{FF2B5EF4-FFF2-40B4-BE49-F238E27FC236}">
                <a16:creationId xmlns:a16="http://schemas.microsoft.com/office/drawing/2014/main" id="{9E4AA4D1-8DA3-08A2-2B9A-105CA0E01A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3F0D10-DFA9-4E8C-A965-FBF022177A38}" type="datetimeFigureOut">
              <a:rPr lang="en-GB" smtClean="0"/>
              <a:t>14/11/2025</a:t>
            </a:fld>
            <a:endParaRPr lang="en-GB"/>
          </a:p>
        </p:txBody>
      </p:sp>
      <p:sp>
        <p:nvSpPr>
          <p:cNvPr id="5" name="Tijdelijke aanduiding voor voettekst 4">
            <a:extLst>
              <a:ext uri="{FF2B5EF4-FFF2-40B4-BE49-F238E27FC236}">
                <a16:creationId xmlns:a16="http://schemas.microsoft.com/office/drawing/2014/main" id="{D16C2649-71D9-8B9D-DFEC-67E0C70222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Tijdelijke aanduiding voor dianummer 5">
            <a:extLst>
              <a:ext uri="{FF2B5EF4-FFF2-40B4-BE49-F238E27FC236}">
                <a16:creationId xmlns:a16="http://schemas.microsoft.com/office/drawing/2014/main" id="{03BF6208-9001-2AEE-C528-4499E943D9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0AFA76-000B-4929-9F44-FDC648B57C66}" type="slidenum">
              <a:rPr lang="en-GB" smtClean="0"/>
              <a:t>‹nr.›</a:t>
            </a:fld>
            <a:endParaRPr lang="en-GB"/>
          </a:p>
        </p:txBody>
      </p:sp>
    </p:spTree>
    <p:extLst>
      <p:ext uri="{BB962C8B-B14F-4D97-AF65-F5344CB8AC3E}">
        <p14:creationId xmlns:p14="http://schemas.microsoft.com/office/powerpoint/2010/main" val="1529563203"/>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9.pn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20.pn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7.png"/><Relationship Id="rId7" Type="http://schemas.openxmlformats.org/officeDocument/2006/relationships/diagramQuickStyle" Target="../diagrams/quickStyle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8.svg"/><Relationship Id="rId9" Type="http://schemas.microsoft.com/office/2007/relationships/diagramDrawing" Target="../diagrams/drawing2.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png"/><Relationship Id="rId5" Type="http://schemas.microsoft.com/office/2007/relationships/hdphoto" Target="../media/hdphoto1.wdp"/><Relationship Id="rId4" Type="http://schemas.openxmlformats.org/officeDocument/2006/relationships/image" Target="../media/image9.png"/><Relationship Id="rId9"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86299A-8711-BFE8-20D9-C96E621A98E2}"/>
              </a:ext>
            </a:extLst>
          </p:cNvPr>
          <p:cNvSpPr>
            <a:spLocks noGrp="1"/>
          </p:cNvSpPr>
          <p:nvPr>
            <p:ph type="ctrTitle"/>
          </p:nvPr>
        </p:nvSpPr>
        <p:spPr>
          <a:xfrm>
            <a:off x="1751012" y="1092825"/>
            <a:ext cx="8689976" cy="2509213"/>
          </a:xfrm>
        </p:spPr>
        <p:txBody>
          <a:bodyPr>
            <a:normAutofit fontScale="90000"/>
          </a:bodyPr>
          <a:lstStyle/>
          <a:p>
            <a:r>
              <a:rPr lang="nl-NL">
                <a:latin typeface="Arial" panose="020B0604020202020204" pitchFamily="34" charset="0"/>
                <a:cs typeface="Arial" panose="020B0604020202020204" pitchFamily="34" charset="0"/>
              </a:rPr>
              <a:t>Project Network </a:t>
            </a:r>
            <a:r>
              <a:rPr lang="nl-NL" err="1">
                <a:latin typeface="Arial" panose="020B0604020202020204" pitchFamily="34" charset="0"/>
                <a:cs typeface="Arial" panose="020B0604020202020204" pitchFamily="34" charset="0"/>
              </a:rPr>
              <a:t>Infrastructure</a:t>
            </a:r>
            <a:r>
              <a:rPr lang="nl-NL">
                <a:latin typeface="Arial" panose="020B0604020202020204" pitchFamily="34" charset="0"/>
                <a:cs typeface="Arial" panose="020B0604020202020204" pitchFamily="34" charset="0"/>
              </a:rPr>
              <a:t> Development</a:t>
            </a:r>
            <a:endParaRPr lang="en-GB">
              <a:latin typeface="Arial" panose="020B0604020202020204" pitchFamily="34" charset="0"/>
              <a:cs typeface="Arial" panose="020B0604020202020204" pitchFamily="34" charset="0"/>
            </a:endParaRPr>
          </a:p>
        </p:txBody>
      </p:sp>
      <p:sp>
        <p:nvSpPr>
          <p:cNvPr id="3" name="Ondertitel 2">
            <a:extLst>
              <a:ext uri="{FF2B5EF4-FFF2-40B4-BE49-F238E27FC236}">
                <a16:creationId xmlns:a16="http://schemas.microsoft.com/office/drawing/2014/main" id="{87A7D2F0-0D48-4BF3-3384-0DD852E713A2}"/>
              </a:ext>
            </a:extLst>
          </p:cNvPr>
          <p:cNvSpPr>
            <a:spLocks noGrp="1"/>
          </p:cNvSpPr>
          <p:nvPr>
            <p:ph type="subTitle" idx="1"/>
          </p:nvPr>
        </p:nvSpPr>
        <p:spPr>
          <a:xfrm>
            <a:off x="1524000" y="3602038"/>
            <a:ext cx="9144000" cy="479308"/>
          </a:xfrm>
        </p:spPr>
        <p:txBody>
          <a:bodyPr>
            <a:normAutofit/>
          </a:bodyPr>
          <a:lstStyle/>
          <a:p>
            <a:r>
              <a:rPr lang="nl-NL">
                <a:latin typeface="Arial" panose="020B0604020202020204" pitchFamily="34" charset="0"/>
                <a:cs typeface="Arial" panose="020B0604020202020204" pitchFamily="34" charset="0"/>
              </a:rPr>
              <a:t>Onderzoek naar weerdienst voor de spoorsector</a:t>
            </a:r>
          </a:p>
          <a:p>
            <a:endParaRPr lang="nl-NL" sz="1400">
              <a:latin typeface="Arial" panose="020B0604020202020204" pitchFamily="34" charset="0"/>
              <a:cs typeface="Arial" panose="020B0604020202020204" pitchFamily="34" charset="0"/>
            </a:endParaRPr>
          </a:p>
        </p:txBody>
      </p:sp>
      <p:sp>
        <p:nvSpPr>
          <p:cNvPr id="4" name="Ondertitel 2">
            <a:extLst>
              <a:ext uri="{FF2B5EF4-FFF2-40B4-BE49-F238E27FC236}">
                <a16:creationId xmlns:a16="http://schemas.microsoft.com/office/drawing/2014/main" id="{C61C28C6-7F3B-A3AC-D198-1E8A614C53A7}"/>
              </a:ext>
            </a:extLst>
          </p:cNvPr>
          <p:cNvSpPr txBox="1">
            <a:spLocks/>
          </p:cNvSpPr>
          <p:nvPr/>
        </p:nvSpPr>
        <p:spPr>
          <a:xfrm>
            <a:off x="3924300" y="4173421"/>
            <a:ext cx="4140200" cy="159814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nl-NL" sz="1600" b="1" dirty="0">
                <a:latin typeface="Arial" panose="020B0604020202020204" pitchFamily="34" charset="0"/>
                <a:cs typeface="Arial" panose="020B0604020202020204" pitchFamily="34" charset="0"/>
              </a:rPr>
              <a:t>Datum: </a:t>
            </a:r>
            <a:r>
              <a:rPr lang="nl-NL" sz="1600" dirty="0">
                <a:latin typeface="Arial" panose="020B0604020202020204" pitchFamily="34" charset="0"/>
                <a:cs typeface="Arial" panose="020B0604020202020204" pitchFamily="34" charset="0"/>
              </a:rPr>
              <a:t>	14 november, 2025</a:t>
            </a:r>
            <a:br>
              <a:rPr lang="nl-NL" sz="1600" dirty="0">
                <a:latin typeface="Arial" panose="020B0604020202020204" pitchFamily="34" charset="0"/>
                <a:cs typeface="Arial" panose="020B0604020202020204" pitchFamily="34" charset="0"/>
              </a:rPr>
            </a:br>
            <a:r>
              <a:rPr lang="nl-NL" sz="1600" b="1" dirty="0">
                <a:latin typeface="Arial" panose="020B0604020202020204" pitchFamily="34" charset="0"/>
                <a:cs typeface="Arial" panose="020B0604020202020204" pitchFamily="34" charset="0"/>
              </a:rPr>
              <a:t>Groep 6:</a:t>
            </a:r>
            <a:r>
              <a:rPr lang="nl-NL" sz="1600" dirty="0">
                <a:latin typeface="Arial" panose="020B0604020202020204" pitchFamily="34" charset="0"/>
                <a:cs typeface="Arial" panose="020B0604020202020204" pitchFamily="34" charset="0"/>
              </a:rPr>
              <a:t>	Thomas Witvliet (15042901),</a:t>
            </a:r>
            <a:br>
              <a:rPr lang="nl-NL" sz="1600" dirty="0">
                <a:latin typeface="Arial" panose="020B0604020202020204" pitchFamily="34" charset="0"/>
                <a:cs typeface="Arial" panose="020B0604020202020204" pitchFamily="34" charset="0"/>
              </a:rPr>
            </a:br>
            <a:r>
              <a:rPr lang="nl-NL" sz="1600" dirty="0">
                <a:latin typeface="Arial" panose="020B0604020202020204" pitchFamily="34" charset="0"/>
                <a:cs typeface="Arial" panose="020B0604020202020204" pitchFamily="34" charset="0"/>
              </a:rPr>
              <a:t>	</a:t>
            </a:r>
            <a:r>
              <a:rPr lang="nl-NL" sz="1600" dirty="0" err="1">
                <a:latin typeface="Arial" panose="020B0604020202020204" pitchFamily="34" charset="0"/>
                <a:cs typeface="Arial" panose="020B0604020202020204" pitchFamily="34" charset="0"/>
              </a:rPr>
              <a:t>Vere</a:t>
            </a:r>
            <a:r>
              <a:rPr lang="nl-NL" sz="1600" dirty="0">
                <a:latin typeface="Arial" panose="020B0604020202020204" pitchFamily="34" charset="0"/>
                <a:cs typeface="Arial" panose="020B0604020202020204" pitchFamily="34" charset="0"/>
              </a:rPr>
              <a:t> van den Broek (25141937),</a:t>
            </a:r>
            <a:br>
              <a:rPr lang="nl-NL" sz="1600" dirty="0">
                <a:latin typeface="Arial" panose="020B0604020202020204" pitchFamily="34" charset="0"/>
                <a:cs typeface="Arial" panose="020B0604020202020204" pitchFamily="34" charset="0"/>
              </a:rPr>
            </a:br>
            <a:r>
              <a:rPr lang="nl-NL" sz="1600" dirty="0">
                <a:latin typeface="Arial" panose="020B0604020202020204" pitchFamily="34" charset="0"/>
                <a:cs typeface="Arial" panose="020B0604020202020204" pitchFamily="34" charset="0"/>
              </a:rPr>
              <a:t>	Denis </a:t>
            </a:r>
            <a:r>
              <a:rPr lang="nl-NL" sz="1600" dirty="0" err="1">
                <a:latin typeface="Arial" panose="020B0604020202020204" pitchFamily="34" charset="0"/>
                <a:cs typeface="Arial" panose="020B0604020202020204" pitchFamily="34" charset="0"/>
              </a:rPr>
              <a:t>Vrbovca</a:t>
            </a:r>
            <a:r>
              <a:rPr lang="nl-NL" sz="1600" dirty="0">
                <a:latin typeface="Arial" panose="020B0604020202020204" pitchFamily="34" charset="0"/>
                <a:cs typeface="Arial" panose="020B0604020202020204" pitchFamily="34" charset="0"/>
              </a:rPr>
              <a:t> (24099546),</a:t>
            </a:r>
            <a:br>
              <a:rPr lang="nl-NL" sz="1600" dirty="0">
                <a:latin typeface="Arial" panose="020B0604020202020204" pitchFamily="34" charset="0"/>
                <a:cs typeface="Arial" panose="020B0604020202020204" pitchFamily="34" charset="0"/>
              </a:rPr>
            </a:br>
            <a:r>
              <a:rPr lang="nl-NL" sz="1600" dirty="0">
                <a:latin typeface="Arial" panose="020B0604020202020204" pitchFamily="34" charset="0"/>
                <a:cs typeface="Arial" panose="020B0604020202020204" pitchFamily="34" charset="0"/>
              </a:rPr>
              <a:t>	</a:t>
            </a:r>
            <a:r>
              <a:rPr lang="nl-NL" sz="1600" dirty="0" err="1">
                <a:latin typeface="Arial" panose="020B0604020202020204" pitchFamily="34" charset="0"/>
                <a:cs typeface="Arial" panose="020B0604020202020204" pitchFamily="34" charset="0"/>
              </a:rPr>
              <a:t>Seandric</a:t>
            </a:r>
            <a:r>
              <a:rPr lang="nl-NL" sz="1600" dirty="0">
                <a:latin typeface="Arial" panose="020B0604020202020204" pitchFamily="34" charset="0"/>
                <a:cs typeface="Arial" panose="020B0604020202020204" pitchFamily="34" charset="0"/>
              </a:rPr>
              <a:t> </a:t>
            </a:r>
            <a:r>
              <a:rPr lang="nl-NL" sz="1600" dirty="0" err="1">
                <a:latin typeface="Arial" panose="020B0604020202020204" pitchFamily="34" charset="0"/>
                <a:cs typeface="Arial" panose="020B0604020202020204" pitchFamily="34" charset="0"/>
              </a:rPr>
              <a:t>Martis</a:t>
            </a:r>
            <a:r>
              <a:rPr lang="nl-NL" sz="1600" dirty="0">
                <a:latin typeface="Arial" panose="020B0604020202020204" pitchFamily="34" charset="0"/>
                <a:cs typeface="Arial" panose="020B0604020202020204" pitchFamily="34" charset="0"/>
              </a:rPr>
              <a:t> (24014818)</a:t>
            </a:r>
          </a:p>
        </p:txBody>
      </p:sp>
      <p:sp>
        <p:nvSpPr>
          <p:cNvPr id="6" name="Freeform 2" descr="a black and white image of a winding road">
            <a:extLst>
              <a:ext uri="{FF2B5EF4-FFF2-40B4-BE49-F238E27FC236}">
                <a16:creationId xmlns:a16="http://schemas.microsoft.com/office/drawing/2014/main" id="{56DE7913-AE94-5E02-DA6E-C63834953FE3}"/>
              </a:ext>
            </a:extLst>
          </p:cNvPr>
          <p:cNvSpPr/>
          <p:nvPr/>
        </p:nvSpPr>
        <p:spPr>
          <a:xfrm>
            <a:off x="1524000" y="3942628"/>
            <a:ext cx="18307766" cy="5576444"/>
          </a:xfrm>
          <a:custGeom>
            <a:avLst/>
            <a:gdLst/>
            <a:ahLst/>
            <a:cxnLst/>
            <a:rect l="l" t="t" r="r" b="b"/>
            <a:pathLst>
              <a:path w="18307766" h="5576444">
                <a:moveTo>
                  <a:pt x="0" y="0"/>
                </a:moveTo>
                <a:lnTo>
                  <a:pt x="18307766" y="0"/>
                </a:lnTo>
                <a:lnTo>
                  <a:pt x="18307766" y="5576444"/>
                </a:lnTo>
                <a:lnTo>
                  <a:pt x="0" y="55764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7" name="Freeform 9">
            <a:extLst>
              <a:ext uri="{FF2B5EF4-FFF2-40B4-BE49-F238E27FC236}">
                <a16:creationId xmlns:a16="http://schemas.microsoft.com/office/drawing/2014/main" id="{E29E0B81-7A1F-3D10-5095-2A36CE7EBD63}"/>
              </a:ext>
            </a:extLst>
          </p:cNvPr>
          <p:cNvSpPr/>
          <p:nvPr/>
        </p:nvSpPr>
        <p:spPr>
          <a:xfrm>
            <a:off x="11395745" y="2940310"/>
            <a:ext cx="615008" cy="1046822"/>
          </a:xfrm>
          <a:custGeom>
            <a:avLst/>
            <a:gdLst/>
            <a:ahLst/>
            <a:cxnLst/>
            <a:rect l="l" t="t" r="r" b="b"/>
            <a:pathLst>
              <a:path w="615008" h="1046822">
                <a:moveTo>
                  <a:pt x="0" y="0"/>
                </a:moveTo>
                <a:lnTo>
                  <a:pt x="615008" y="0"/>
                </a:lnTo>
                <a:lnTo>
                  <a:pt x="615008" y="1046822"/>
                </a:lnTo>
                <a:lnTo>
                  <a:pt x="0" y="104682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8" name="Freeform 4">
            <a:extLst>
              <a:ext uri="{FF2B5EF4-FFF2-40B4-BE49-F238E27FC236}">
                <a16:creationId xmlns:a16="http://schemas.microsoft.com/office/drawing/2014/main" id="{57DF88ED-26C8-1326-B041-93C9E1BA8DF1}"/>
              </a:ext>
              <a:ext uri="{C183D7F6-B498-43B3-948B-1728B52AA6E4}">
                <adec:decorative xmlns:adec="http://schemas.microsoft.com/office/drawing/2017/decorative" val="1"/>
              </a:ext>
            </a:extLst>
          </p:cNvPr>
          <p:cNvSpPr/>
          <p:nvPr/>
        </p:nvSpPr>
        <p:spPr>
          <a:xfrm>
            <a:off x="11556080" y="-675137"/>
            <a:ext cx="1271839" cy="1886717"/>
          </a:xfrm>
          <a:custGeom>
            <a:avLst/>
            <a:gdLst/>
            <a:ahLst/>
            <a:cxnLst/>
            <a:rect l="l" t="t" r="r" b="b"/>
            <a:pathLst>
              <a:path w="1929159" h="2861822">
                <a:moveTo>
                  <a:pt x="0" y="0"/>
                </a:moveTo>
                <a:lnTo>
                  <a:pt x="1929159" y="0"/>
                </a:lnTo>
                <a:lnTo>
                  <a:pt x="1929159" y="2861822"/>
                </a:lnTo>
                <a:lnTo>
                  <a:pt x="0" y="286182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9" name="Freeform 4">
            <a:extLst>
              <a:ext uri="{FF2B5EF4-FFF2-40B4-BE49-F238E27FC236}">
                <a16:creationId xmlns:a16="http://schemas.microsoft.com/office/drawing/2014/main" id="{8ED381D6-74B9-096C-DEA1-3743CD46BB09}"/>
              </a:ext>
              <a:ext uri="{C183D7F6-B498-43B3-948B-1728B52AA6E4}">
                <adec:decorative xmlns:adec="http://schemas.microsoft.com/office/drawing/2017/decorative" val="1"/>
              </a:ext>
            </a:extLst>
          </p:cNvPr>
          <p:cNvSpPr/>
          <p:nvPr/>
        </p:nvSpPr>
        <p:spPr>
          <a:xfrm>
            <a:off x="-507323" y="5094414"/>
            <a:ext cx="1256257" cy="1863602"/>
          </a:xfrm>
          <a:custGeom>
            <a:avLst/>
            <a:gdLst/>
            <a:ahLst/>
            <a:cxnLst/>
            <a:rect l="l" t="t" r="r" b="b"/>
            <a:pathLst>
              <a:path w="1929159" h="2861822">
                <a:moveTo>
                  <a:pt x="0" y="0"/>
                </a:moveTo>
                <a:lnTo>
                  <a:pt x="1929159" y="0"/>
                </a:lnTo>
                <a:lnTo>
                  <a:pt x="1929159" y="2861822"/>
                </a:lnTo>
                <a:lnTo>
                  <a:pt x="0" y="286182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Tree>
    <p:extLst>
      <p:ext uri="{BB962C8B-B14F-4D97-AF65-F5344CB8AC3E}">
        <p14:creationId xmlns:p14="http://schemas.microsoft.com/office/powerpoint/2010/main" val="3904635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920051-6C55-1AD5-63B3-997E1CCF2DEF}"/>
              </a:ext>
            </a:extLst>
          </p:cNvPr>
          <p:cNvSpPr>
            <a:spLocks noGrp="1"/>
          </p:cNvSpPr>
          <p:nvPr>
            <p:ph type="title"/>
          </p:nvPr>
        </p:nvSpPr>
        <p:spPr/>
        <p:txBody>
          <a:bodyPr/>
          <a:lstStyle/>
          <a:p>
            <a:pPr algn="ctr"/>
            <a:r>
              <a:rPr lang="nl-NL">
                <a:solidFill>
                  <a:schemeClr val="tx1">
                    <a:lumMod val="75000"/>
                    <a:lumOff val="25000"/>
                  </a:schemeClr>
                </a:solidFill>
                <a:latin typeface="Aharoni" panose="02010803020104030203" pitchFamily="2" charset="-79"/>
                <a:cs typeface="Aharoni" panose="02010803020104030203" pitchFamily="2" charset="-79"/>
              </a:rPr>
              <a:t>INHOUD</a:t>
            </a:r>
            <a:endParaRPr lang="en-GB">
              <a:solidFill>
                <a:schemeClr val="tx1">
                  <a:lumMod val="75000"/>
                  <a:lumOff val="25000"/>
                </a:schemeClr>
              </a:solidFill>
              <a:latin typeface="Aharoni" panose="02010803020104030203" pitchFamily="2" charset="-79"/>
              <a:cs typeface="Aharoni" panose="02010803020104030203" pitchFamily="2" charset="-79"/>
            </a:endParaRPr>
          </a:p>
        </p:txBody>
      </p:sp>
      <p:sp>
        <p:nvSpPr>
          <p:cNvPr id="6" name="Freeform 29">
            <a:extLst>
              <a:ext uri="{FF2B5EF4-FFF2-40B4-BE49-F238E27FC236}">
                <a16:creationId xmlns:a16="http://schemas.microsoft.com/office/drawing/2014/main" id="{123BAA35-4BCA-AEAB-9C0C-A374783F28C6}"/>
              </a:ext>
              <a:ext uri="{C183D7F6-B498-43B3-948B-1728B52AA6E4}">
                <adec:decorative xmlns:adec="http://schemas.microsoft.com/office/drawing/2017/decorative" val="1"/>
              </a:ext>
            </a:extLst>
          </p:cNvPr>
          <p:cNvSpPr/>
          <p:nvPr/>
        </p:nvSpPr>
        <p:spPr>
          <a:xfrm flipH="1" flipV="1">
            <a:off x="-291316" y="-231076"/>
            <a:ext cx="1595657" cy="1610296"/>
          </a:xfrm>
          <a:custGeom>
            <a:avLst/>
            <a:gdLst/>
            <a:ahLst/>
            <a:cxnLst/>
            <a:rect l="l" t="t" r="r" b="b"/>
            <a:pathLst>
              <a:path w="2360735" h="2382393">
                <a:moveTo>
                  <a:pt x="2360735" y="2382392"/>
                </a:moveTo>
                <a:lnTo>
                  <a:pt x="0" y="2382392"/>
                </a:lnTo>
                <a:lnTo>
                  <a:pt x="0" y="0"/>
                </a:lnTo>
                <a:lnTo>
                  <a:pt x="2360735" y="0"/>
                </a:lnTo>
                <a:lnTo>
                  <a:pt x="2360735" y="2382392"/>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9" name="AutoShape 2">
            <a:extLst>
              <a:ext uri="{FF2B5EF4-FFF2-40B4-BE49-F238E27FC236}">
                <a16:creationId xmlns:a16="http://schemas.microsoft.com/office/drawing/2014/main" id="{88D645DD-97BD-6D27-9618-AACEFDB83D22}"/>
              </a:ext>
              <a:ext uri="{C183D7F6-B498-43B3-948B-1728B52AA6E4}">
                <adec:decorative xmlns:adec="http://schemas.microsoft.com/office/drawing/2017/decorative" val="1"/>
              </a:ext>
            </a:extLst>
          </p:cNvPr>
          <p:cNvSpPr/>
          <p:nvPr/>
        </p:nvSpPr>
        <p:spPr>
          <a:xfrm flipV="1">
            <a:off x="-881744" y="3891307"/>
            <a:ext cx="14205858" cy="2422409"/>
          </a:xfrm>
          <a:prstGeom prst="line">
            <a:avLst/>
          </a:prstGeom>
          <a:ln w="723900" cap="flat">
            <a:solidFill>
              <a:srgbClr val="010101"/>
            </a:solidFill>
            <a:prstDash val="solid"/>
            <a:headEnd type="none" w="sm" len="sm"/>
            <a:tailEnd type="none" w="sm" len="sm"/>
          </a:ln>
        </p:spPr>
        <p:txBody>
          <a:bodyPr/>
          <a:lstStyle/>
          <a:p>
            <a:endParaRPr lang="en-GB"/>
          </a:p>
        </p:txBody>
      </p:sp>
      <p:sp>
        <p:nvSpPr>
          <p:cNvPr id="10" name="AutoShape 24">
            <a:extLst>
              <a:ext uri="{FF2B5EF4-FFF2-40B4-BE49-F238E27FC236}">
                <a16:creationId xmlns:a16="http://schemas.microsoft.com/office/drawing/2014/main" id="{57CEE5FA-CD08-0FDE-734C-B20E3B0B5AAE}"/>
              </a:ext>
              <a:ext uri="{C183D7F6-B498-43B3-948B-1728B52AA6E4}">
                <adec:decorative xmlns:adec="http://schemas.microsoft.com/office/drawing/2017/decorative" val="1"/>
              </a:ext>
            </a:extLst>
          </p:cNvPr>
          <p:cNvSpPr/>
          <p:nvPr/>
        </p:nvSpPr>
        <p:spPr>
          <a:xfrm flipV="1">
            <a:off x="-693821" y="3705194"/>
            <a:ext cx="14205858" cy="2465953"/>
          </a:xfrm>
          <a:prstGeom prst="line">
            <a:avLst/>
          </a:prstGeom>
          <a:ln w="38100" cap="flat">
            <a:solidFill>
              <a:srgbClr val="FFFFFF"/>
            </a:solidFill>
            <a:prstDash val="lgDash"/>
            <a:headEnd type="none" w="sm" len="sm"/>
            <a:tailEnd type="none" w="sm" len="sm"/>
          </a:ln>
        </p:spPr>
        <p:txBody>
          <a:bodyPr/>
          <a:lstStyle/>
          <a:p>
            <a:endParaRPr lang="en-GB"/>
          </a:p>
        </p:txBody>
      </p:sp>
      <p:sp>
        <p:nvSpPr>
          <p:cNvPr id="7" name="Freeform 29">
            <a:extLst>
              <a:ext uri="{FF2B5EF4-FFF2-40B4-BE49-F238E27FC236}">
                <a16:creationId xmlns:a16="http://schemas.microsoft.com/office/drawing/2014/main" id="{D309C526-D82E-459A-E5C4-38652EF4051A}"/>
              </a:ext>
              <a:ext uri="{C183D7F6-B498-43B3-948B-1728B52AA6E4}">
                <adec:decorative xmlns:adec="http://schemas.microsoft.com/office/drawing/2017/decorative" val="1"/>
              </a:ext>
            </a:extLst>
          </p:cNvPr>
          <p:cNvSpPr/>
          <p:nvPr/>
        </p:nvSpPr>
        <p:spPr>
          <a:xfrm rot="10800000" flipH="1" flipV="1">
            <a:off x="10849124" y="5506752"/>
            <a:ext cx="1595657" cy="1610296"/>
          </a:xfrm>
          <a:custGeom>
            <a:avLst/>
            <a:gdLst/>
            <a:ahLst/>
            <a:cxnLst/>
            <a:rect l="l" t="t" r="r" b="b"/>
            <a:pathLst>
              <a:path w="2360735" h="2382393">
                <a:moveTo>
                  <a:pt x="2360735" y="2382392"/>
                </a:moveTo>
                <a:lnTo>
                  <a:pt x="0" y="2382392"/>
                </a:lnTo>
                <a:lnTo>
                  <a:pt x="0" y="0"/>
                </a:lnTo>
                <a:lnTo>
                  <a:pt x="2360735" y="0"/>
                </a:lnTo>
                <a:lnTo>
                  <a:pt x="2360735" y="2382392"/>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11" name="Rechthoek: afgeronde hoeken 10">
            <a:extLst>
              <a:ext uri="{FF2B5EF4-FFF2-40B4-BE49-F238E27FC236}">
                <a16:creationId xmlns:a16="http://schemas.microsoft.com/office/drawing/2014/main" id="{B09CCA8F-C29F-77B6-BDBA-C657AAB21238}"/>
              </a:ext>
            </a:extLst>
          </p:cNvPr>
          <p:cNvSpPr/>
          <p:nvPr/>
        </p:nvSpPr>
        <p:spPr>
          <a:xfrm>
            <a:off x="500349" y="3694196"/>
            <a:ext cx="1595657" cy="132556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4400" dirty="0">
                <a:solidFill>
                  <a:schemeClr val="tx1"/>
                </a:solidFill>
              </a:rPr>
              <a:t>1.</a:t>
            </a:r>
            <a:br>
              <a:rPr lang="nl-NL" dirty="0">
                <a:solidFill>
                  <a:schemeClr val="tx1"/>
                </a:solidFill>
              </a:rPr>
            </a:br>
            <a:r>
              <a:rPr lang="nl-NL" dirty="0">
                <a:solidFill>
                  <a:schemeClr val="tx1"/>
                </a:solidFill>
              </a:rPr>
              <a:t>Achtergrond</a:t>
            </a:r>
          </a:p>
          <a:p>
            <a:pPr algn="ctr"/>
            <a:r>
              <a:rPr lang="nl-NL" dirty="0">
                <a:solidFill>
                  <a:schemeClr val="tx1"/>
                </a:solidFill>
              </a:rPr>
              <a:t>(2 min)</a:t>
            </a:r>
            <a:endParaRPr lang="en-GB" dirty="0">
              <a:solidFill>
                <a:schemeClr val="tx1"/>
              </a:solidFill>
            </a:endParaRPr>
          </a:p>
        </p:txBody>
      </p:sp>
      <p:pic>
        <p:nvPicPr>
          <p:cNvPr id="13" name="Afbeelding 12" descr="Afbeelding met schets, clipart, illustratie, ontwerp&#10;&#10;Door AI gegenereerde inhoud is mogelijk onjuist.">
            <a:extLst>
              <a:ext uri="{FF2B5EF4-FFF2-40B4-BE49-F238E27FC236}">
                <a16:creationId xmlns:a16="http://schemas.microsoft.com/office/drawing/2014/main" id="{1B6C8CC0-E4D8-2AD0-9B3E-C164B8D7F4C3}"/>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284" b="90032" l="4967" r="44701">
                        <a14:foregroundMark x1="28356" y1="73448" x2="28356" y2="73448"/>
                        <a14:foregroundMark x1="40101" y1="72759" x2="40101" y2="72759"/>
                        <a14:foregroundMark x1="15101" y1="61034" x2="15101" y2="61034"/>
                        <a14:foregroundMark x1="23322" y1="38621" x2="23322" y2="38621"/>
                      </a14:backgroundRemoval>
                    </a14:imgEffect>
                  </a14:imgLayer>
                </a14:imgProps>
              </a:ext>
              <a:ext uri="{28A0092B-C50C-407E-A947-70E740481C1C}">
                <a14:useLocalDpi xmlns:a14="http://schemas.microsoft.com/office/drawing/2010/main" val="0"/>
              </a:ext>
            </a:extLst>
          </a:blip>
          <a:srcRect t="315" r="50333" b="-315"/>
          <a:stretch>
            <a:fillRect/>
          </a:stretch>
        </p:blipFill>
        <p:spPr>
          <a:xfrm>
            <a:off x="-52858" y="4900451"/>
            <a:ext cx="1012100" cy="991526"/>
          </a:xfrm>
          <a:prstGeom prst="rect">
            <a:avLst/>
          </a:prstGeom>
        </p:spPr>
      </p:pic>
      <p:sp>
        <p:nvSpPr>
          <p:cNvPr id="14" name="Pijl: rechts 13">
            <a:extLst>
              <a:ext uri="{FF2B5EF4-FFF2-40B4-BE49-F238E27FC236}">
                <a16:creationId xmlns:a16="http://schemas.microsoft.com/office/drawing/2014/main" id="{A91B0C46-6234-03C5-3901-FD75D747A6D4}"/>
              </a:ext>
            </a:extLst>
          </p:cNvPr>
          <p:cNvSpPr/>
          <p:nvPr/>
        </p:nvSpPr>
        <p:spPr>
          <a:xfrm rot="5400000">
            <a:off x="993161" y="4914291"/>
            <a:ext cx="579120" cy="632460"/>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Afbeelding 14" descr="Afbeelding met schets, clipart, illustratie, ontwerp&#10;&#10;Door AI gegenereerde inhoud is mogelijk onjuist.">
            <a:extLst>
              <a:ext uri="{FF2B5EF4-FFF2-40B4-BE49-F238E27FC236}">
                <a16:creationId xmlns:a16="http://schemas.microsoft.com/office/drawing/2014/main" id="{EDB99D98-D67E-5AFF-614F-D629DE4C57C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284" b="90032" l="4967" r="44701">
                        <a14:foregroundMark x1="28356" y1="73448" x2="28356" y2="73448"/>
                        <a14:foregroundMark x1="40101" y1="72759" x2="40101" y2="72759"/>
                        <a14:foregroundMark x1="15101" y1="61034" x2="15101" y2="61034"/>
                        <a14:foregroundMark x1="23322" y1="38621" x2="23322" y2="38621"/>
                      </a14:backgroundRemoval>
                    </a14:imgEffect>
                  </a14:imgLayer>
                </a14:imgProps>
              </a:ext>
              <a:ext uri="{28A0092B-C50C-407E-A947-70E740481C1C}">
                <a14:useLocalDpi xmlns:a14="http://schemas.microsoft.com/office/drawing/2010/main" val="0"/>
              </a:ext>
            </a:extLst>
          </a:blip>
          <a:srcRect t="315" r="50333" b="-315"/>
          <a:stretch>
            <a:fillRect/>
          </a:stretch>
        </p:blipFill>
        <p:spPr>
          <a:xfrm>
            <a:off x="11248369" y="2966693"/>
            <a:ext cx="1012100" cy="991526"/>
          </a:xfrm>
          <a:prstGeom prst="rect">
            <a:avLst/>
          </a:prstGeom>
        </p:spPr>
      </p:pic>
      <p:sp>
        <p:nvSpPr>
          <p:cNvPr id="16" name="Rechthoek: afgeronde hoeken 15">
            <a:extLst>
              <a:ext uri="{FF2B5EF4-FFF2-40B4-BE49-F238E27FC236}">
                <a16:creationId xmlns:a16="http://schemas.microsoft.com/office/drawing/2014/main" id="{48D078E4-BBA5-C224-6C4B-94035FA3E16B}"/>
              </a:ext>
            </a:extLst>
          </p:cNvPr>
          <p:cNvSpPr/>
          <p:nvPr/>
        </p:nvSpPr>
        <p:spPr>
          <a:xfrm>
            <a:off x="2206807" y="3303057"/>
            <a:ext cx="2146932" cy="132556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4400" dirty="0">
                <a:solidFill>
                  <a:schemeClr val="tx1"/>
                </a:solidFill>
              </a:rPr>
              <a:t>2.</a:t>
            </a:r>
            <a:br>
              <a:rPr lang="nl-NL" dirty="0">
                <a:solidFill>
                  <a:schemeClr val="tx1"/>
                </a:solidFill>
              </a:rPr>
            </a:br>
            <a:r>
              <a:rPr lang="nl-NL" dirty="0">
                <a:solidFill>
                  <a:schemeClr val="tx1"/>
                </a:solidFill>
              </a:rPr>
              <a:t>Onderzoeksvragen</a:t>
            </a:r>
          </a:p>
          <a:p>
            <a:pPr algn="ctr"/>
            <a:r>
              <a:rPr lang="nl-NL" dirty="0">
                <a:solidFill>
                  <a:schemeClr val="tx1"/>
                </a:solidFill>
              </a:rPr>
              <a:t>(2 min)</a:t>
            </a:r>
            <a:endParaRPr lang="en-GB" dirty="0">
              <a:solidFill>
                <a:schemeClr val="tx1"/>
              </a:solidFill>
            </a:endParaRPr>
          </a:p>
        </p:txBody>
      </p:sp>
      <p:sp>
        <p:nvSpPr>
          <p:cNvPr id="17" name="Pijl: rechts 16">
            <a:extLst>
              <a:ext uri="{FF2B5EF4-FFF2-40B4-BE49-F238E27FC236}">
                <a16:creationId xmlns:a16="http://schemas.microsoft.com/office/drawing/2014/main" id="{B719E2A4-5C1C-9D93-6955-838CE9FB4D33}"/>
              </a:ext>
            </a:extLst>
          </p:cNvPr>
          <p:cNvSpPr/>
          <p:nvPr/>
        </p:nvSpPr>
        <p:spPr>
          <a:xfrm rot="5400000">
            <a:off x="2990713" y="4539899"/>
            <a:ext cx="579120" cy="632460"/>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hoek: afgeronde hoeken 17">
            <a:extLst>
              <a:ext uri="{FF2B5EF4-FFF2-40B4-BE49-F238E27FC236}">
                <a16:creationId xmlns:a16="http://schemas.microsoft.com/office/drawing/2014/main" id="{2830C18B-4846-546E-9031-8E2FC16432C4}"/>
              </a:ext>
            </a:extLst>
          </p:cNvPr>
          <p:cNvSpPr/>
          <p:nvPr/>
        </p:nvSpPr>
        <p:spPr>
          <a:xfrm>
            <a:off x="4469667" y="2956592"/>
            <a:ext cx="1595657" cy="132556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4400" dirty="0">
                <a:solidFill>
                  <a:schemeClr val="tx1"/>
                </a:solidFill>
              </a:rPr>
              <a:t>3.</a:t>
            </a:r>
            <a:br>
              <a:rPr lang="nl-NL" dirty="0">
                <a:solidFill>
                  <a:schemeClr val="tx1"/>
                </a:solidFill>
              </a:rPr>
            </a:br>
            <a:r>
              <a:rPr lang="nl-NL" dirty="0">
                <a:solidFill>
                  <a:schemeClr val="tx1"/>
                </a:solidFill>
              </a:rPr>
              <a:t>Methodiek</a:t>
            </a:r>
          </a:p>
          <a:p>
            <a:pPr algn="ctr"/>
            <a:r>
              <a:rPr lang="nl-NL" dirty="0">
                <a:solidFill>
                  <a:schemeClr val="tx1"/>
                </a:solidFill>
              </a:rPr>
              <a:t>(3 min)</a:t>
            </a:r>
            <a:endParaRPr lang="en-GB" dirty="0">
              <a:solidFill>
                <a:schemeClr val="tx1"/>
              </a:solidFill>
            </a:endParaRPr>
          </a:p>
        </p:txBody>
      </p:sp>
      <p:sp>
        <p:nvSpPr>
          <p:cNvPr id="19" name="Pijl: rechts 18">
            <a:extLst>
              <a:ext uri="{FF2B5EF4-FFF2-40B4-BE49-F238E27FC236}">
                <a16:creationId xmlns:a16="http://schemas.microsoft.com/office/drawing/2014/main" id="{6C1C1CDE-7D3A-5278-ECA5-7185D73EAABA}"/>
              </a:ext>
            </a:extLst>
          </p:cNvPr>
          <p:cNvSpPr/>
          <p:nvPr/>
        </p:nvSpPr>
        <p:spPr>
          <a:xfrm rot="5400000">
            <a:off x="4962479" y="4176687"/>
            <a:ext cx="579120" cy="632460"/>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hthoek: afgeronde hoeken 19">
            <a:extLst>
              <a:ext uri="{FF2B5EF4-FFF2-40B4-BE49-F238E27FC236}">
                <a16:creationId xmlns:a16="http://schemas.microsoft.com/office/drawing/2014/main" id="{E42496D9-2172-CE87-EF31-B34E71E414C3}"/>
              </a:ext>
            </a:extLst>
          </p:cNvPr>
          <p:cNvSpPr/>
          <p:nvPr/>
        </p:nvSpPr>
        <p:spPr>
          <a:xfrm>
            <a:off x="6196967" y="2677255"/>
            <a:ext cx="1595657" cy="132556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4400" dirty="0">
                <a:solidFill>
                  <a:schemeClr val="tx1"/>
                </a:solidFill>
              </a:rPr>
              <a:t>4.</a:t>
            </a:r>
            <a:br>
              <a:rPr lang="nl-NL" dirty="0">
                <a:solidFill>
                  <a:schemeClr val="tx1"/>
                </a:solidFill>
              </a:rPr>
            </a:br>
            <a:r>
              <a:rPr lang="nl-NL" dirty="0">
                <a:solidFill>
                  <a:schemeClr val="tx1"/>
                </a:solidFill>
              </a:rPr>
              <a:t>Resultaten</a:t>
            </a:r>
          </a:p>
          <a:p>
            <a:pPr algn="ctr"/>
            <a:r>
              <a:rPr lang="nl-NL" dirty="0">
                <a:solidFill>
                  <a:schemeClr val="tx1"/>
                </a:solidFill>
              </a:rPr>
              <a:t>(3 min)</a:t>
            </a:r>
            <a:endParaRPr lang="en-GB" dirty="0">
              <a:solidFill>
                <a:schemeClr val="tx1"/>
              </a:solidFill>
            </a:endParaRPr>
          </a:p>
        </p:txBody>
      </p:sp>
      <p:sp>
        <p:nvSpPr>
          <p:cNvPr id="21" name="Pijl: rechts 20">
            <a:extLst>
              <a:ext uri="{FF2B5EF4-FFF2-40B4-BE49-F238E27FC236}">
                <a16:creationId xmlns:a16="http://schemas.microsoft.com/office/drawing/2014/main" id="{5BA3A03E-1035-8B44-D44B-8E0E3A4302BB}"/>
              </a:ext>
            </a:extLst>
          </p:cNvPr>
          <p:cNvSpPr/>
          <p:nvPr/>
        </p:nvSpPr>
        <p:spPr>
          <a:xfrm rot="5400000">
            <a:off x="6689779" y="3897350"/>
            <a:ext cx="579120" cy="632460"/>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hthoek: afgeronde hoeken 21">
            <a:extLst>
              <a:ext uri="{FF2B5EF4-FFF2-40B4-BE49-F238E27FC236}">
                <a16:creationId xmlns:a16="http://schemas.microsoft.com/office/drawing/2014/main" id="{30465CCD-121E-D649-8EA4-2C3C3EB4990E}"/>
              </a:ext>
            </a:extLst>
          </p:cNvPr>
          <p:cNvSpPr/>
          <p:nvPr/>
        </p:nvSpPr>
        <p:spPr>
          <a:xfrm>
            <a:off x="7914894" y="2402333"/>
            <a:ext cx="1595657" cy="132556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4400" dirty="0">
                <a:solidFill>
                  <a:schemeClr val="tx1"/>
                </a:solidFill>
              </a:rPr>
              <a:t>5.</a:t>
            </a:r>
            <a:br>
              <a:rPr lang="nl-NL" dirty="0">
                <a:solidFill>
                  <a:schemeClr val="tx1"/>
                </a:solidFill>
              </a:rPr>
            </a:br>
            <a:r>
              <a:rPr lang="nl-NL" dirty="0">
                <a:solidFill>
                  <a:schemeClr val="tx1"/>
                </a:solidFill>
              </a:rPr>
              <a:t>Experiment</a:t>
            </a:r>
          </a:p>
          <a:p>
            <a:pPr algn="ctr"/>
            <a:r>
              <a:rPr lang="nl-NL" dirty="0">
                <a:solidFill>
                  <a:schemeClr val="tx1"/>
                </a:solidFill>
              </a:rPr>
              <a:t>(3 min)</a:t>
            </a:r>
            <a:endParaRPr lang="en-GB" dirty="0">
              <a:solidFill>
                <a:schemeClr val="tx1"/>
              </a:solidFill>
            </a:endParaRPr>
          </a:p>
        </p:txBody>
      </p:sp>
      <p:sp>
        <p:nvSpPr>
          <p:cNvPr id="23" name="Pijl: rechts 22">
            <a:extLst>
              <a:ext uri="{FF2B5EF4-FFF2-40B4-BE49-F238E27FC236}">
                <a16:creationId xmlns:a16="http://schemas.microsoft.com/office/drawing/2014/main" id="{8F2CA589-4DCB-D292-35F3-EDBA12B4F112}"/>
              </a:ext>
            </a:extLst>
          </p:cNvPr>
          <p:cNvSpPr/>
          <p:nvPr/>
        </p:nvSpPr>
        <p:spPr>
          <a:xfrm rot="5400000">
            <a:off x="8407706" y="3622428"/>
            <a:ext cx="579120" cy="632460"/>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hthoek: afgeronde hoeken 23">
            <a:extLst>
              <a:ext uri="{FF2B5EF4-FFF2-40B4-BE49-F238E27FC236}">
                <a16:creationId xmlns:a16="http://schemas.microsoft.com/office/drawing/2014/main" id="{33851A42-F1A0-7BB9-3E5C-01E07966F731}"/>
              </a:ext>
            </a:extLst>
          </p:cNvPr>
          <p:cNvSpPr/>
          <p:nvPr/>
        </p:nvSpPr>
        <p:spPr>
          <a:xfrm>
            <a:off x="9632821" y="2098135"/>
            <a:ext cx="1595657" cy="132556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4400" dirty="0">
                <a:solidFill>
                  <a:schemeClr val="tx1"/>
                </a:solidFill>
              </a:rPr>
              <a:t>6.</a:t>
            </a:r>
            <a:br>
              <a:rPr lang="nl-NL" dirty="0">
                <a:solidFill>
                  <a:schemeClr val="tx1"/>
                </a:solidFill>
              </a:rPr>
            </a:br>
            <a:r>
              <a:rPr lang="nl-NL" dirty="0">
                <a:solidFill>
                  <a:schemeClr val="tx1"/>
                </a:solidFill>
              </a:rPr>
              <a:t>Conclusie</a:t>
            </a:r>
          </a:p>
          <a:p>
            <a:pPr algn="ctr"/>
            <a:r>
              <a:rPr lang="nl-NL" dirty="0">
                <a:solidFill>
                  <a:schemeClr val="tx1"/>
                </a:solidFill>
              </a:rPr>
              <a:t>(2 min)</a:t>
            </a:r>
            <a:endParaRPr lang="en-GB" dirty="0">
              <a:solidFill>
                <a:schemeClr val="tx1"/>
              </a:solidFill>
            </a:endParaRPr>
          </a:p>
        </p:txBody>
      </p:sp>
      <p:sp>
        <p:nvSpPr>
          <p:cNvPr id="25" name="Pijl: rechts 24">
            <a:extLst>
              <a:ext uri="{FF2B5EF4-FFF2-40B4-BE49-F238E27FC236}">
                <a16:creationId xmlns:a16="http://schemas.microsoft.com/office/drawing/2014/main" id="{511E1B43-7FF6-293A-2CE0-426AF5237333}"/>
              </a:ext>
            </a:extLst>
          </p:cNvPr>
          <p:cNvSpPr/>
          <p:nvPr/>
        </p:nvSpPr>
        <p:spPr>
          <a:xfrm rot="5400000">
            <a:off x="10125633" y="3318230"/>
            <a:ext cx="579120" cy="632460"/>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Pijl: links/rechts 4">
            <a:extLst>
              <a:ext uri="{FF2B5EF4-FFF2-40B4-BE49-F238E27FC236}">
                <a16:creationId xmlns:a16="http://schemas.microsoft.com/office/drawing/2014/main" id="{E73DA19F-B716-7873-315C-11A3BB5B1E47}"/>
              </a:ext>
            </a:extLst>
          </p:cNvPr>
          <p:cNvSpPr/>
          <p:nvPr/>
        </p:nvSpPr>
        <p:spPr>
          <a:xfrm rot="21001489">
            <a:off x="1244088" y="5557470"/>
            <a:ext cx="10034597" cy="309933"/>
          </a:xfrm>
          <a:prstGeom prst="lef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kstvak 7">
            <a:extLst>
              <a:ext uri="{FF2B5EF4-FFF2-40B4-BE49-F238E27FC236}">
                <a16:creationId xmlns:a16="http://schemas.microsoft.com/office/drawing/2014/main" id="{82B8D71A-86C5-0E0C-6EF3-9EE1EDB2445F}"/>
              </a:ext>
            </a:extLst>
          </p:cNvPr>
          <p:cNvSpPr txBox="1"/>
          <p:nvPr/>
        </p:nvSpPr>
        <p:spPr>
          <a:xfrm rot="21038403">
            <a:off x="5701620" y="5825041"/>
            <a:ext cx="1414976" cy="369332"/>
          </a:xfrm>
          <a:prstGeom prst="rect">
            <a:avLst/>
          </a:prstGeom>
          <a:noFill/>
        </p:spPr>
        <p:txBody>
          <a:bodyPr wrap="square" rtlCol="0">
            <a:spAutoFit/>
          </a:bodyPr>
          <a:lstStyle/>
          <a:p>
            <a:r>
              <a:rPr lang="nl-NL" dirty="0"/>
              <a:t>15 minuten</a:t>
            </a:r>
            <a:endParaRPr lang="en-GB" dirty="0"/>
          </a:p>
        </p:txBody>
      </p:sp>
    </p:spTree>
    <p:extLst>
      <p:ext uri="{BB962C8B-B14F-4D97-AF65-F5344CB8AC3E}">
        <p14:creationId xmlns:p14="http://schemas.microsoft.com/office/powerpoint/2010/main" val="2373292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Afbeelding 7" descr="Afbeelding met lijn, Symmetrie, Parallel, zwart-wit&#10;&#10;Door AI gegenereerde inhoud is mogelijk onjuist.">
            <a:extLst>
              <a:ext uri="{FF2B5EF4-FFF2-40B4-BE49-F238E27FC236}">
                <a16:creationId xmlns:a16="http://schemas.microsoft.com/office/drawing/2014/main" id="{288784A7-E8B2-FEA7-1BCF-E0084FA873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7533" y="-50008"/>
            <a:ext cx="10437024" cy="6958016"/>
          </a:xfrm>
          <a:prstGeom prst="rect">
            <a:avLst/>
          </a:prstGeom>
        </p:spPr>
      </p:pic>
      <p:sp>
        <p:nvSpPr>
          <p:cNvPr id="2" name="Titel 1">
            <a:extLst>
              <a:ext uri="{FF2B5EF4-FFF2-40B4-BE49-F238E27FC236}">
                <a16:creationId xmlns:a16="http://schemas.microsoft.com/office/drawing/2014/main" id="{E3A61536-6667-D4B1-6E29-BC33424EAB1B}"/>
              </a:ext>
            </a:extLst>
          </p:cNvPr>
          <p:cNvSpPr>
            <a:spLocks noGrp="1"/>
          </p:cNvSpPr>
          <p:nvPr>
            <p:ph type="title"/>
          </p:nvPr>
        </p:nvSpPr>
        <p:spPr/>
        <p:txBody>
          <a:bodyPr/>
          <a:lstStyle/>
          <a:p>
            <a:r>
              <a:rPr lang="nl-NL"/>
              <a:t>Achtergrond</a:t>
            </a:r>
            <a:endParaRPr lang="en-GB"/>
          </a:p>
        </p:txBody>
      </p:sp>
      <p:sp>
        <p:nvSpPr>
          <p:cNvPr id="3" name="Tijdelijke aanduiding voor inhoud 2">
            <a:extLst>
              <a:ext uri="{FF2B5EF4-FFF2-40B4-BE49-F238E27FC236}">
                <a16:creationId xmlns:a16="http://schemas.microsoft.com/office/drawing/2014/main" id="{802E2C93-4ADA-D1AC-33E7-33F54C8532ED}"/>
              </a:ext>
            </a:extLst>
          </p:cNvPr>
          <p:cNvSpPr>
            <a:spLocks noGrp="1"/>
          </p:cNvSpPr>
          <p:nvPr>
            <p:ph idx="1"/>
          </p:nvPr>
        </p:nvSpPr>
        <p:spPr/>
        <p:txBody>
          <a:bodyPr/>
          <a:lstStyle/>
          <a:p>
            <a:r>
              <a:rPr lang="nl-NL"/>
              <a:t>Aanleiding</a:t>
            </a:r>
          </a:p>
          <a:p>
            <a:r>
              <a:rPr lang="nl-NL"/>
              <a:t>Doelstelling</a:t>
            </a:r>
          </a:p>
          <a:p>
            <a:endParaRPr lang="en-GB"/>
          </a:p>
        </p:txBody>
      </p:sp>
      <p:sp>
        <p:nvSpPr>
          <p:cNvPr id="4" name="Freeform 4">
            <a:extLst>
              <a:ext uri="{FF2B5EF4-FFF2-40B4-BE49-F238E27FC236}">
                <a16:creationId xmlns:a16="http://schemas.microsoft.com/office/drawing/2014/main" id="{B80AB41C-260A-3F62-89AB-F23D5279E1A9}"/>
              </a:ext>
              <a:ext uri="{C183D7F6-B498-43B3-948B-1728B52AA6E4}">
                <adec:decorative xmlns:adec="http://schemas.microsoft.com/office/drawing/2017/decorative" val="1"/>
              </a:ext>
            </a:extLst>
          </p:cNvPr>
          <p:cNvSpPr/>
          <p:nvPr/>
        </p:nvSpPr>
        <p:spPr>
          <a:xfrm>
            <a:off x="-507323" y="5094414"/>
            <a:ext cx="1256257" cy="1863602"/>
          </a:xfrm>
          <a:custGeom>
            <a:avLst/>
            <a:gdLst/>
            <a:ahLst/>
            <a:cxnLst/>
            <a:rect l="l" t="t" r="r" b="b"/>
            <a:pathLst>
              <a:path w="1929159" h="2861822">
                <a:moveTo>
                  <a:pt x="0" y="0"/>
                </a:moveTo>
                <a:lnTo>
                  <a:pt x="1929159" y="0"/>
                </a:lnTo>
                <a:lnTo>
                  <a:pt x="1929159" y="2861822"/>
                </a:lnTo>
                <a:lnTo>
                  <a:pt x="0" y="2861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5" name="Freeform 4">
            <a:extLst>
              <a:ext uri="{FF2B5EF4-FFF2-40B4-BE49-F238E27FC236}">
                <a16:creationId xmlns:a16="http://schemas.microsoft.com/office/drawing/2014/main" id="{B90988AC-E975-D1E1-D51C-F7258A501FC7}"/>
              </a:ext>
              <a:ext uri="{C183D7F6-B498-43B3-948B-1728B52AA6E4}">
                <adec:decorative xmlns:adec="http://schemas.microsoft.com/office/drawing/2017/decorative" val="1"/>
              </a:ext>
            </a:extLst>
          </p:cNvPr>
          <p:cNvSpPr/>
          <p:nvPr/>
        </p:nvSpPr>
        <p:spPr>
          <a:xfrm>
            <a:off x="11556080" y="-675137"/>
            <a:ext cx="1271839" cy="1886717"/>
          </a:xfrm>
          <a:custGeom>
            <a:avLst/>
            <a:gdLst/>
            <a:ahLst/>
            <a:cxnLst/>
            <a:rect l="l" t="t" r="r" b="b"/>
            <a:pathLst>
              <a:path w="1929159" h="2861822">
                <a:moveTo>
                  <a:pt x="0" y="0"/>
                </a:moveTo>
                <a:lnTo>
                  <a:pt x="1929159" y="0"/>
                </a:lnTo>
                <a:lnTo>
                  <a:pt x="1929159" y="2861822"/>
                </a:lnTo>
                <a:lnTo>
                  <a:pt x="0" y="2861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Tree>
    <p:extLst>
      <p:ext uri="{BB962C8B-B14F-4D97-AF65-F5344CB8AC3E}">
        <p14:creationId xmlns:p14="http://schemas.microsoft.com/office/powerpoint/2010/main" val="114716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08979E-2775-2CFE-9418-4DF2A87ACBBB}"/>
              </a:ext>
            </a:extLst>
          </p:cNvPr>
          <p:cNvSpPr>
            <a:spLocks noGrp="1"/>
          </p:cNvSpPr>
          <p:nvPr>
            <p:ph type="title"/>
          </p:nvPr>
        </p:nvSpPr>
        <p:spPr/>
        <p:txBody>
          <a:bodyPr/>
          <a:lstStyle/>
          <a:p>
            <a:r>
              <a:rPr lang="nl-NL"/>
              <a:t>Onderzoeksvragen</a:t>
            </a:r>
            <a:endParaRPr lang="en-GB"/>
          </a:p>
        </p:txBody>
      </p:sp>
      <p:sp>
        <p:nvSpPr>
          <p:cNvPr id="3" name="Tijdelijke aanduiding voor inhoud 2">
            <a:extLst>
              <a:ext uri="{FF2B5EF4-FFF2-40B4-BE49-F238E27FC236}">
                <a16:creationId xmlns:a16="http://schemas.microsoft.com/office/drawing/2014/main" id="{2A333AB1-DF26-CC2B-A1CF-74FCFDC81574}"/>
              </a:ext>
            </a:extLst>
          </p:cNvPr>
          <p:cNvSpPr>
            <a:spLocks noGrp="1"/>
          </p:cNvSpPr>
          <p:nvPr>
            <p:ph idx="1"/>
          </p:nvPr>
        </p:nvSpPr>
        <p:spPr>
          <a:noFill/>
        </p:spPr>
        <p:txBody>
          <a:bodyPr>
            <a:normAutofit fontScale="77500" lnSpcReduction="20000"/>
          </a:bodyPr>
          <a:lstStyle/>
          <a:p>
            <a:r>
              <a:rPr lang="nl-NL" dirty="0"/>
              <a:t>Hoofdvraag: Op welke manier kan </a:t>
            </a:r>
            <a:r>
              <a:rPr lang="nl-NL" dirty="0" err="1"/>
              <a:t>TropoMetrics</a:t>
            </a:r>
            <a:r>
              <a:rPr lang="nl-NL" dirty="0"/>
              <a:t> zich het beste onderscheiden op de markt voor weersdiensten door middel van een nieuw dienst?</a:t>
            </a:r>
          </a:p>
          <a:p>
            <a:r>
              <a:rPr lang="nl-NL" dirty="0"/>
              <a:t>Deelvraag 1: Hoe ziet de huidige dienstverlening en marktpositie van </a:t>
            </a:r>
            <a:r>
              <a:rPr lang="nl-NL" dirty="0" err="1"/>
              <a:t>TropoMetrics</a:t>
            </a:r>
            <a:r>
              <a:rPr lang="nl-NL" dirty="0"/>
              <a:t> eruit?</a:t>
            </a:r>
          </a:p>
          <a:p>
            <a:r>
              <a:rPr lang="nl-NL" dirty="0"/>
              <a:t>Deelvraag 2: Welke technologische en marktgerichte mogelijkhedenzijn er om de huidige dienstverlening uit te breiden of te vernieuwen op de huidige markt voor weersdiensten?</a:t>
            </a:r>
          </a:p>
          <a:p>
            <a:r>
              <a:rPr lang="nl-NL" dirty="0"/>
              <a:t>Doelvraag 3: Welke technische en organisatorische eisen en klantgerichte wensen zijn bepalend voor het ontwikkelen van een nieuwe dienst bij </a:t>
            </a:r>
            <a:r>
              <a:rPr lang="nl-NL" dirty="0" err="1"/>
              <a:t>TropoMetrics</a:t>
            </a:r>
            <a:r>
              <a:rPr lang="nl-NL" dirty="0"/>
              <a:t>?</a:t>
            </a:r>
          </a:p>
          <a:p>
            <a:r>
              <a:rPr lang="nl-NL" dirty="0"/>
              <a:t>Deelvraag 4: Hoe sluiten de mogelijkheden voor nieuwe diensten aan bij de eisen die </a:t>
            </a:r>
            <a:r>
              <a:rPr lang="nl-NL" dirty="0" err="1"/>
              <a:t>TropoMetrics</a:t>
            </a:r>
            <a:r>
              <a:rPr lang="nl-NL" dirty="0"/>
              <a:t> stelt op het gebied van klantgerichtheid, betrouwbaarheid, schaalbaarheid en security?</a:t>
            </a:r>
          </a:p>
          <a:p>
            <a:r>
              <a:rPr lang="nl-NL" dirty="0"/>
              <a:t>Deelvraag 5: Welke stappen zijn nodig om een </a:t>
            </a:r>
            <a:r>
              <a:rPr lang="nl-NL" dirty="0" err="1"/>
              <a:t>Proof</a:t>
            </a:r>
            <a:r>
              <a:rPr lang="nl-NL" dirty="0"/>
              <a:t> of Concept te ontwikkelen dat aansluit bij de behoeften en eisen van </a:t>
            </a:r>
            <a:r>
              <a:rPr lang="nl-NL" dirty="0" err="1"/>
              <a:t>TropoMetrics</a:t>
            </a:r>
            <a:r>
              <a:rPr lang="nl-NL" dirty="0"/>
              <a:t>?</a:t>
            </a:r>
          </a:p>
          <a:p>
            <a:endParaRPr lang="en-GB" dirty="0"/>
          </a:p>
        </p:txBody>
      </p:sp>
      <p:sp>
        <p:nvSpPr>
          <p:cNvPr id="4" name="Freeform 29">
            <a:extLst>
              <a:ext uri="{FF2B5EF4-FFF2-40B4-BE49-F238E27FC236}">
                <a16:creationId xmlns:a16="http://schemas.microsoft.com/office/drawing/2014/main" id="{CF2E4888-5171-ABAA-D519-4C6E80A3CE18}"/>
              </a:ext>
              <a:ext uri="{C183D7F6-B498-43B3-948B-1728B52AA6E4}">
                <adec:decorative xmlns:adec="http://schemas.microsoft.com/office/drawing/2017/decorative" val="1"/>
              </a:ext>
            </a:extLst>
          </p:cNvPr>
          <p:cNvSpPr/>
          <p:nvPr/>
        </p:nvSpPr>
        <p:spPr>
          <a:xfrm rot="10800000" flipH="1" flipV="1">
            <a:off x="10849124" y="5506752"/>
            <a:ext cx="1595657" cy="1610296"/>
          </a:xfrm>
          <a:custGeom>
            <a:avLst/>
            <a:gdLst/>
            <a:ahLst/>
            <a:cxnLst/>
            <a:rect l="l" t="t" r="r" b="b"/>
            <a:pathLst>
              <a:path w="2360735" h="2382393">
                <a:moveTo>
                  <a:pt x="2360735" y="2382392"/>
                </a:moveTo>
                <a:lnTo>
                  <a:pt x="0" y="2382392"/>
                </a:lnTo>
                <a:lnTo>
                  <a:pt x="0" y="0"/>
                </a:lnTo>
                <a:lnTo>
                  <a:pt x="2360735" y="0"/>
                </a:lnTo>
                <a:lnTo>
                  <a:pt x="2360735" y="2382392"/>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5" name="Freeform 29">
            <a:extLst>
              <a:ext uri="{FF2B5EF4-FFF2-40B4-BE49-F238E27FC236}">
                <a16:creationId xmlns:a16="http://schemas.microsoft.com/office/drawing/2014/main" id="{8384F994-1BA4-582F-9BE7-789844321B77}"/>
              </a:ext>
              <a:ext uri="{C183D7F6-B498-43B3-948B-1728B52AA6E4}">
                <adec:decorative xmlns:adec="http://schemas.microsoft.com/office/drawing/2017/decorative" val="1"/>
              </a:ext>
            </a:extLst>
          </p:cNvPr>
          <p:cNvSpPr/>
          <p:nvPr/>
        </p:nvSpPr>
        <p:spPr>
          <a:xfrm flipH="1" flipV="1">
            <a:off x="-291316" y="-231076"/>
            <a:ext cx="1595657" cy="1610296"/>
          </a:xfrm>
          <a:custGeom>
            <a:avLst/>
            <a:gdLst/>
            <a:ahLst/>
            <a:cxnLst/>
            <a:rect l="l" t="t" r="r" b="b"/>
            <a:pathLst>
              <a:path w="2360735" h="2382393">
                <a:moveTo>
                  <a:pt x="2360735" y="2382392"/>
                </a:moveTo>
                <a:lnTo>
                  <a:pt x="0" y="2382392"/>
                </a:lnTo>
                <a:lnTo>
                  <a:pt x="0" y="0"/>
                </a:lnTo>
                <a:lnTo>
                  <a:pt x="2360735" y="0"/>
                </a:lnTo>
                <a:lnTo>
                  <a:pt x="2360735" y="2382392"/>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Tree>
    <p:extLst>
      <p:ext uri="{BB962C8B-B14F-4D97-AF65-F5344CB8AC3E}">
        <p14:creationId xmlns:p14="http://schemas.microsoft.com/office/powerpoint/2010/main" val="2966737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Afbeelding 8" descr="Afbeelding met schets, lijn, wit, Graphics&#10;&#10;Door AI gegenereerde inhoud is mogelijk onjuist.">
            <a:extLst>
              <a:ext uri="{FF2B5EF4-FFF2-40B4-BE49-F238E27FC236}">
                <a16:creationId xmlns:a16="http://schemas.microsoft.com/office/drawing/2014/main" id="{A58FDB52-CB1F-6661-AF76-CE4411B97380}"/>
              </a:ext>
            </a:extLst>
          </p:cNvPr>
          <p:cNvPicPr>
            <a:picLocks noChangeAspect="1"/>
          </p:cNvPicPr>
          <p:nvPr/>
        </p:nvPicPr>
        <p:blipFill>
          <a:blip r:embed="rId3"/>
          <a:stretch>
            <a:fillRect/>
          </a:stretch>
        </p:blipFill>
        <p:spPr>
          <a:xfrm>
            <a:off x="3563814" y="-27225"/>
            <a:ext cx="10372355" cy="6914903"/>
          </a:xfrm>
          <a:prstGeom prst="rect">
            <a:avLst/>
          </a:prstGeom>
        </p:spPr>
      </p:pic>
      <p:sp>
        <p:nvSpPr>
          <p:cNvPr id="2" name="Titel 1">
            <a:extLst>
              <a:ext uri="{FF2B5EF4-FFF2-40B4-BE49-F238E27FC236}">
                <a16:creationId xmlns:a16="http://schemas.microsoft.com/office/drawing/2014/main" id="{42E0E67D-2D97-51DA-ED69-F9E75C93B56F}"/>
              </a:ext>
            </a:extLst>
          </p:cNvPr>
          <p:cNvSpPr>
            <a:spLocks noGrp="1"/>
          </p:cNvSpPr>
          <p:nvPr>
            <p:ph type="title"/>
          </p:nvPr>
        </p:nvSpPr>
        <p:spPr/>
        <p:txBody>
          <a:bodyPr/>
          <a:lstStyle/>
          <a:p>
            <a:r>
              <a:rPr lang="nl-NL"/>
              <a:t>Onderzoeksmethodiek</a:t>
            </a:r>
            <a:endParaRPr lang="en-GB"/>
          </a:p>
        </p:txBody>
      </p:sp>
      <p:sp>
        <p:nvSpPr>
          <p:cNvPr id="3" name="Tijdelijke aanduiding voor inhoud 2">
            <a:extLst>
              <a:ext uri="{FF2B5EF4-FFF2-40B4-BE49-F238E27FC236}">
                <a16:creationId xmlns:a16="http://schemas.microsoft.com/office/drawing/2014/main" id="{7D90B38E-50E0-D2FF-AEA9-6361E03E1D41}"/>
              </a:ext>
            </a:extLst>
          </p:cNvPr>
          <p:cNvSpPr>
            <a:spLocks noGrp="1"/>
          </p:cNvSpPr>
          <p:nvPr>
            <p:ph idx="1"/>
          </p:nvPr>
        </p:nvSpPr>
        <p:spPr/>
        <p:txBody>
          <a:bodyPr/>
          <a:lstStyle/>
          <a:p>
            <a:r>
              <a:rPr lang="en-GB" dirty="0" err="1"/>
              <a:t>Probleem</a:t>
            </a:r>
            <a:r>
              <a:rPr lang="en-GB" dirty="0"/>
              <a:t> </a:t>
            </a:r>
            <a:r>
              <a:rPr lang="en-GB" dirty="0" err="1"/>
              <a:t>identificatie</a:t>
            </a:r>
            <a:endParaRPr lang="en-GB" dirty="0"/>
          </a:p>
          <a:p>
            <a:r>
              <a:rPr lang="en-GB" dirty="0" err="1"/>
              <a:t>Sectoranalyse</a:t>
            </a:r>
            <a:r>
              <a:rPr lang="en-GB" dirty="0"/>
              <a:t> </a:t>
            </a:r>
            <a:r>
              <a:rPr lang="en-GB" dirty="0" err="1"/>
              <a:t>en</a:t>
            </a:r>
            <a:r>
              <a:rPr lang="en-GB" dirty="0"/>
              <a:t> </a:t>
            </a:r>
            <a:r>
              <a:rPr lang="en-GB" dirty="0" err="1"/>
              <a:t>dataverkenning</a:t>
            </a:r>
            <a:endParaRPr lang="en-GB" dirty="0"/>
          </a:p>
          <a:p>
            <a:r>
              <a:rPr lang="en-GB" dirty="0" err="1"/>
              <a:t>Conceptueel</a:t>
            </a:r>
            <a:r>
              <a:rPr lang="en-GB" dirty="0"/>
              <a:t> </a:t>
            </a:r>
            <a:r>
              <a:rPr lang="en-GB" dirty="0" err="1"/>
              <a:t>ontwerp</a:t>
            </a:r>
            <a:endParaRPr lang="en-GB" dirty="0"/>
          </a:p>
          <a:p>
            <a:r>
              <a:rPr lang="en-GB" dirty="0" err="1"/>
              <a:t>Evaluatie</a:t>
            </a:r>
            <a:r>
              <a:rPr lang="en-GB" dirty="0"/>
              <a:t> </a:t>
            </a:r>
            <a:r>
              <a:rPr lang="en-GB" dirty="0" err="1"/>
              <a:t>en</a:t>
            </a:r>
            <a:r>
              <a:rPr lang="en-GB" dirty="0"/>
              <a:t> </a:t>
            </a:r>
            <a:r>
              <a:rPr lang="en-GB" dirty="0" err="1"/>
              <a:t>validatie</a:t>
            </a:r>
            <a:endParaRPr lang="en-GB" dirty="0"/>
          </a:p>
          <a:p>
            <a:r>
              <a:rPr lang="en-GB" dirty="0" err="1"/>
              <a:t>Reflectie</a:t>
            </a:r>
            <a:r>
              <a:rPr lang="en-GB" dirty="0"/>
              <a:t> </a:t>
            </a:r>
            <a:r>
              <a:rPr lang="en-GB" dirty="0" err="1"/>
              <a:t>en</a:t>
            </a:r>
            <a:r>
              <a:rPr lang="en-GB" dirty="0"/>
              <a:t> </a:t>
            </a:r>
            <a:r>
              <a:rPr lang="en-GB" dirty="0" err="1"/>
              <a:t>aanbevelingen</a:t>
            </a:r>
            <a:endParaRPr lang="en-GB" dirty="0"/>
          </a:p>
        </p:txBody>
      </p:sp>
      <p:sp>
        <p:nvSpPr>
          <p:cNvPr id="4" name="Freeform 4">
            <a:extLst>
              <a:ext uri="{FF2B5EF4-FFF2-40B4-BE49-F238E27FC236}">
                <a16:creationId xmlns:a16="http://schemas.microsoft.com/office/drawing/2014/main" id="{2FF2D343-58FB-A08A-9537-AFC46E5F20F8}"/>
              </a:ext>
              <a:ext uri="{C183D7F6-B498-43B3-948B-1728B52AA6E4}">
                <adec:decorative xmlns:adec="http://schemas.microsoft.com/office/drawing/2017/decorative" val="1"/>
              </a:ext>
            </a:extLst>
          </p:cNvPr>
          <p:cNvSpPr/>
          <p:nvPr/>
        </p:nvSpPr>
        <p:spPr>
          <a:xfrm>
            <a:off x="-507323" y="5094414"/>
            <a:ext cx="1256257" cy="1863602"/>
          </a:xfrm>
          <a:custGeom>
            <a:avLst/>
            <a:gdLst/>
            <a:ahLst/>
            <a:cxnLst/>
            <a:rect l="l" t="t" r="r" b="b"/>
            <a:pathLst>
              <a:path w="1929159" h="2861822">
                <a:moveTo>
                  <a:pt x="0" y="0"/>
                </a:moveTo>
                <a:lnTo>
                  <a:pt x="1929159" y="0"/>
                </a:lnTo>
                <a:lnTo>
                  <a:pt x="1929159" y="2861822"/>
                </a:lnTo>
                <a:lnTo>
                  <a:pt x="0" y="2861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5" name="Freeform 4">
            <a:extLst>
              <a:ext uri="{FF2B5EF4-FFF2-40B4-BE49-F238E27FC236}">
                <a16:creationId xmlns:a16="http://schemas.microsoft.com/office/drawing/2014/main" id="{A88FBDA4-C04D-9317-560B-28AC42BCE3D6}"/>
              </a:ext>
              <a:ext uri="{C183D7F6-B498-43B3-948B-1728B52AA6E4}">
                <adec:decorative xmlns:adec="http://schemas.microsoft.com/office/drawing/2017/decorative" val="1"/>
              </a:ext>
            </a:extLst>
          </p:cNvPr>
          <p:cNvSpPr/>
          <p:nvPr/>
        </p:nvSpPr>
        <p:spPr>
          <a:xfrm>
            <a:off x="11556080" y="-675137"/>
            <a:ext cx="1271839" cy="1886717"/>
          </a:xfrm>
          <a:custGeom>
            <a:avLst/>
            <a:gdLst/>
            <a:ahLst/>
            <a:cxnLst/>
            <a:rect l="l" t="t" r="r" b="b"/>
            <a:pathLst>
              <a:path w="1929159" h="2861822">
                <a:moveTo>
                  <a:pt x="0" y="0"/>
                </a:moveTo>
                <a:lnTo>
                  <a:pt x="1929159" y="0"/>
                </a:lnTo>
                <a:lnTo>
                  <a:pt x="1929159" y="2861822"/>
                </a:lnTo>
                <a:lnTo>
                  <a:pt x="0" y="2861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Tree>
    <p:extLst>
      <p:ext uri="{BB962C8B-B14F-4D97-AF65-F5344CB8AC3E}">
        <p14:creationId xmlns:p14="http://schemas.microsoft.com/office/powerpoint/2010/main" val="4042530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4C712BE-4E6D-6503-2870-134FCEFF66CB}"/>
              </a:ext>
            </a:extLst>
          </p:cNvPr>
          <p:cNvSpPr>
            <a:spLocks noGrp="1"/>
          </p:cNvSpPr>
          <p:nvPr>
            <p:ph type="title"/>
          </p:nvPr>
        </p:nvSpPr>
        <p:spPr/>
        <p:txBody>
          <a:bodyPr/>
          <a:lstStyle/>
          <a:p>
            <a:r>
              <a:rPr lang="nl-NL"/>
              <a:t>Resultaten</a:t>
            </a:r>
            <a:r>
              <a:rPr lang="nl-NL" dirty="0"/>
              <a:t> - Sectoranalyse</a:t>
            </a:r>
            <a:endParaRPr lang="en-GB"/>
          </a:p>
        </p:txBody>
      </p:sp>
      <p:graphicFrame>
        <p:nvGraphicFramePr>
          <p:cNvPr id="19" name="Tijdelijke aanduiding voor inhoud 2">
            <a:extLst>
              <a:ext uri="{FF2B5EF4-FFF2-40B4-BE49-F238E27FC236}">
                <a16:creationId xmlns:a16="http://schemas.microsoft.com/office/drawing/2014/main" id="{AC0FC099-AD20-FDB7-5B7D-7FA818C91D1C}"/>
              </a:ext>
            </a:extLst>
          </p:cNvPr>
          <p:cNvGraphicFramePr>
            <a:graphicFrameLocks noGrp="1"/>
          </p:cNvGraphicFramePr>
          <p:nvPr>
            <p:ph idx="1"/>
          </p:nvPr>
        </p:nvGraphicFramePr>
        <p:xfrm>
          <a:off x="838200" y="1927224"/>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reeform 29">
            <a:extLst>
              <a:ext uri="{FF2B5EF4-FFF2-40B4-BE49-F238E27FC236}">
                <a16:creationId xmlns:a16="http://schemas.microsoft.com/office/drawing/2014/main" id="{E989E925-0545-9354-20B7-580CB7FD54CD}"/>
              </a:ext>
              <a:ext uri="{C183D7F6-B498-43B3-948B-1728B52AA6E4}">
                <adec:decorative xmlns:adec="http://schemas.microsoft.com/office/drawing/2017/decorative" val="1"/>
              </a:ext>
            </a:extLst>
          </p:cNvPr>
          <p:cNvSpPr/>
          <p:nvPr/>
        </p:nvSpPr>
        <p:spPr>
          <a:xfrm flipH="1" flipV="1">
            <a:off x="-291316" y="-231076"/>
            <a:ext cx="1595657" cy="1610296"/>
          </a:xfrm>
          <a:custGeom>
            <a:avLst/>
            <a:gdLst/>
            <a:ahLst/>
            <a:cxnLst/>
            <a:rect l="l" t="t" r="r" b="b"/>
            <a:pathLst>
              <a:path w="2360735" h="2382393">
                <a:moveTo>
                  <a:pt x="2360735" y="2382392"/>
                </a:moveTo>
                <a:lnTo>
                  <a:pt x="0" y="2382392"/>
                </a:lnTo>
                <a:lnTo>
                  <a:pt x="0" y="0"/>
                </a:lnTo>
                <a:lnTo>
                  <a:pt x="2360735" y="0"/>
                </a:lnTo>
                <a:lnTo>
                  <a:pt x="2360735" y="2382392"/>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7" name="Freeform 29">
            <a:extLst>
              <a:ext uri="{FF2B5EF4-FFF2-40B4-BE49-F238E27FC236}">
                <a16:creationId xmlns:a16="http://schemas.microsoft.com/office/drawing/2014/main" id="{05BF76FE-1D5A-2D8D-345D-7AB50119B3C1}"/>
              </a:ext>
              <a:ext uri="{C183D7F6-B498-43B3-948B-1728B52AA6E4}">
                <adec:decorative xmlns:adec="http://schemas.microsoft.com/office/drawing/2017/decorative" val="1"/>
              </a:ext>
            </a:extLst>
          </p:cNvPr>
          <p:cNvSpPr/>
          <p:nvPr/>
        </p:nvSpPr>
        <p:spPr>
          <a:xfrm rot="10800000" flipH="1" flipV="1">
            <a:off x="10849124" y="5506752"/>
            <a:ext cx="1595657" cy="1610296"/>
          </a:xfrm>
          <a:custGeom>
            <a:avLst/>
            <a:gdLst/>
            <a:ahLst/>
            <a:cxnLst/>
            <a:rect l="l" t="t" r="r" b="b"/>
            <a:pathLst>
              <a:path w="2360735" h="2382393">
                <a:moveTo>
                  <a:pt x="2360735" y="2382392"/>
                </a:moveTo>
                <a:lnTo>
                  <a:pt x="0" y="2382392"/>
                </a:lnTo>
                <a:lnTo>
                  <a:pt x="0" y="0"/>
                </a:lnTo>
                <a:lnTo>
                  <a:pt x="2360735" y="0"/>
                </a:lnTo>
                <a:lnTo>
                  <a:pt x="2360735" y="2382392"/>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Tree>
    <p:extLst>
      <p:ext uri="{BB962C8B-B14F-4D97-AF65-F5344CB8AC3E}">
        <p14:creationId xmlns:p14="http://schemas.microsoft.com/office/powerpoint/2010/main" val="2419316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EE586-9851-FEE2-670A-3EE389D1672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880188C-E8E4-AC95-BE0C-0168A156361E}"/>
              </a:ext>
            </a:extLst>
          </p:cNvPr>
          <p:cNvSpPr>
            <a:spLocks noGrp="1"/>
          </p:cNvSpPr>
          <p:nvPr>
            <p:ph type="title"/>
          </p:nvPr>
        </p:nvSpPr>
        <p:spPr/>
        <p:txBody>
          <a:bodyPr/>
          <a:lstStyle/>
          <a:p>
            <a:r>
              <a:rPr lang="nl-NL" dirty="0"/>
              <a:t>Resultaten – Conceptueel Ontwerp</a:t>
            </a:r>
            <a:endParaRPr lang="en-GB" dirty="0"/>
          </a:p>
        </p:txBody>
      </p:sp>
      <p:sp>
        <p:nvSpPr>
          <p:cNvPr id="6" name="Freeform 4">
            <a:extLst>
              <a:ext uri="{FF2B5EF4-FFF2-40B4-BE49-F238E27FC236}">
                <a16:creationId xmlns:a16="http://schemas.microsoft.com/office/drawing/2014/main" id="{B004E4CC-BECE-26A5-ADA3-1645DF5B9793}"/>
              </a:ext>
              <a:ext uri="{C183D7F6-B498-43B3-948B-1728B52AA6E4}">
                <adec:decorative xmlns:adec="http://schemas.microsoft.com/office/drawing/2017/decorative" val="1"/>
              </a:ext>
            </a:extLst>
          </p:cNvPr>
          <p:cNvSpPr/>
          <p:nvPr/>
        </p:nvSpPr>
        <p:spPr>
          <a:xfrm>
            <a:off x="11556080" y="-675137"/>
            <a:ext cx="1271839" cy="1886717"/>
          </a:xfrm>
          <a:custGeom>
            <a:avLst/>
            <a:gdLst/>
            <a:ahLst/>
            <a:cxnLst/>
            <a:rect l="l" t="t" r="r" b="b"/>
            <a:pathLst>
              <a:path w="1929159" h="2861822">
                <a:moveTo>
                  <a:pt x="0" y="0"/>
                </a:moveTo>
                <a:lnTo>
                  <a:pt x="1929159" y="0"/>
                </a:lnTo>
                <a:lnTo>
                  <a:pt x="1929159" y="2861822"/>
                </a:lnTo>
                <a:lnTo>
                  <a:pt x="0" y="28618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10" name="Tijdelijke aanduiding voor inhoud 9">
            <a:extLst>
              <a:ext uri="{FF2B5EF4-FFF2-40B4-BE49-F238E27FC236}">
                <a16:creationId xmlns:a16="http://schemas.microsoft.com/office/drawing/2014/main" id="{76F87AC2-688D-3FF1-C191-D231E313F55D}"/>
              </a:ext>
            </a:extLst>
          </p:cNvPr>
          <p:cNvSpPr>
            <a:spLocks noGrp="1"/>
          </p:cNvSpPr>
          <p:nvPr>
            <p:ph idx="1"/>
          </p:nvPr>
        </p:nvSpPr>
        <p:spPr>
          <a:xfrm>
            <a:off x="4321437" y="4932556"/>
            <a:ext cx="3541869" cy="523220"/>
          </a:xfrm>
        </p:spPr>
        <p:txBody>
          <a:bodyPr>
            <a:normAutofit fontScale="92500"/>
          </a:bodyPr>
          <a:lstStyle/>
          <a:p>
            <a:pPr marL="0" lvl="0" indent="0">
              <a:buNone/>
            </a:pPr>
            <a:r>
              <a:rPr lang="en-GB" dirty="0"/>
              <a:t>5. </a:t>
            </a:r>
            <a:r>
              <a:rPr lang="en-GB" dirty="0" err="1"/>
              <a:t>Makkelijk</a:t>
            </a:r>
            <a:r>
              <a:rPr lang="en-GB" dirty="0"/>
              <a:t> </a:t>
            </a:r>
            <a:r>
              <a:rPr lang="en-GB" dirty="0" err="1"/>
              <a:t>schaalbaar</a:t>
            </a:r>
            <a:endParaRPr lang="en-US" dirty="0"/>
          </a:p>
        </p:txBody>
      </p:sp>
      <p:pic>
        <p:nvPicPr>
          <p:cNvPr id="14" name="Afbeelding 13">
            <a:extLst>
              <a:ext uri="{FF2B5EF4-FFF2-40B4-BE49-F238E27FC236}">
                <a16:creationId xmlns:a16="http://schemas.microsoft.com/office/drawing/2014/main" id="{5415FD6B-03E1-8934-A769-980E55828D30}"/>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3611" b="90556" l="3111" r="98667">
                        <a14:foregroundMark x1="90889" y1="53056" x2="93778" y2="52222"/>
                        <a14:foregroundMark x1="96889" y1="50833" x2="98667" y2="51667"/>
                        <a14:foregroundMark x1="53333" y1="88611" x2="32889" y2="91111"/>
                        <a14:foregroundMark x1="32889" y1="91111" x2="24444" y2="86667"/>
                        <a14:foregroundMark x1="11111" y1="75556" x2="3333" y2="71944"/>
                        <a14:foregroundMark x1="28152" y1="6198" x2="30000" y2="3611"/>
                        <a14:foregroundMark x1="24444" y1="11389" x2="28142" y2="6212"/>
                        <a14:foregroundMark x1="24444" y1="15000" x2="11778" y2="26667"/>
                        <a14:foregroundMark x1="11778" y1="26667" x2="4222" y2="28611"/>
                        <a14:foregroundMark x1="3556" y1="40833" x2="20444" y2="39722"/>
                        <a14:foregroundMark x1="20444" y1="39722" x2="31556" y2="31667"/>
                        <a14:foregroundMark x1="31556" y1="31667" x2="40000" y2="18889"/>
                        <a14:foregroundMark x1="40000" y1="18889" x2="50444" y2="11111"/>
                        <a14:foregroundMark x1="50444" y1="11111" x2="64342" y2="10866"/>
                        <a14:foregroundMark x1="32444" y1="3333" x2="32667" y2="3611"/>
                        <a14:foregroundMark x1="32667" y1="3611" x2="27778" y2="3611"/>
                        <a14:backgroundMark x1="47556" y1="81111" x2="47111" y2="81111"/>
                        <a14:backgroundMark x1="45111" y1="74722" x2="36889" y2="73056"/>
                        <a14:backgroundMark x1="38444" y1="76389" x2="15111" y2="70000"/>
                        <a14:backgroundMark x1="77333" y1="43889" x2="56444" y2="43889"/>
                        <a14:backgroundMark x1="52000" y1="45278" x2="55556" y2="41944"/>
                        <a14:backgroundMark x1="35111" y1="40278" x2="53778" y2="26389"/>
                        <a14:backgroundMark x1="53778" y1="26389" x2="69111" y2="24167"/>
                        <a14:backgroundMark x1="69111" y1="24167" x2="69778" y2="24167"/>
                        <a14:backgroundMark x1="36000" y1="38056" x2="17778" y2="45833"/>
                        <a14:backgroundMark x1="2222" y1="45556" x2="18667" y2="46111"/>
                        <a14:backgroundMark x1="2222" y1="34722" x2="16444" y2="33611"/>
                        <a14:backgroundMark x1="16444" y1="33611" x2="30222" y2="20278"/>
                        <a14:backgroundMark x1="30222" y1="20278" x2="36667" y2="9444"/>
                        <a14:backgroundMark x1="34101" y1="6427" x2="35333" y2="4167"/>
                        <a14:backgroundMark x1="32000" y1="10278" x2="33463" y2="7596"/>
                        <a14:backgroundMark x1="25333" y1="3056" x2="5778" y2="22778"/>
                        <a14:backgroundMark x1="5778" y1="22778" x2="5556" y2="22778"/>
                        <a14:backgroundMark x1="8000" y1="22778" x2="19778" y2="12500"/>
                        <a14:backgroundMark x1="19778" y1="12500" x2="21333" y2="10278"/>
                        <a14:backgroundMark x1="13556" y1="85278" x2="4889" y2="80278"/>
                        <a14:backgroundMark x1="13778" y1="70278" x2="1556" y2="67500"/>
                        <a14:backgroundMark x1="1556" y1="67500" x2="444" y2="68333"/>
                        <a14:backgroundMark x1="40444" y1="70278" x2="56222" y2="63611"/>
                        <a14:backgroundMark x1="56222" y1="63611" x2="58667" y2="65556"/>
                        <a14:backgroundMark x1="72000" y1="60000" x2="85556" y2="58056"/>
                        <a14:backgroundMark x1="85556" y1="58056" x2="86667" y2="58056"/>
                        <a14:backgroundMark x1="5333" y1="57222" x2="17778" y2="56944"/>
                        <a14:backgroundMark x1="17778" y1="56944" x2="18000" y2="56944"/>
                        <a14:backgroundMark x1="18889" y1="56944" x2="21556" y2="57222"/>
                        <a14:backgroundMark x1="24000" y1="56944" x2="24000" y2="56944"/>
                        <a14:backgroundMark x1="26222" y1="56944" x2="26222" y2="56944"/>
                        <a14:backgroundMark x1="28000" y1="56944" x2="28000" y2="56944"/>
                        <a14:backgroundMark x1="29333" y1="56389" x2="29333" y2="56389"/>
                        <a14:backgroundMark x1="4000" y1="56667" x2="4000" y2="56667"/>
                        <a14:backgroundMark x1="38667" y1="11389" x2="38667" y2="11389"/>
                        <a14:backgroundMark x1="41778" y1="9167" x2="41778" y2="9167"/>
                        <a14:backgroundMark x1="44444" y1="8333" x2="44444" y2="8333"/>
                        <a14:backgroundMark x1="46444" y1="8333" x2="46444" y2="8333"/>
                        <a14:backgroundMark x1="47556" y1="7500" x2="47556" y2="7500"/>
                        <a14:backgroundMark x1="57333" y1="6389" x2="63111" y2="6389"/>
                        <a14:backgroundMark x1="48444" y1="6944" x2="56444" y2="5833"/>
                        <a14:backgroundMark x1="64889" y1="6389" x2="68667" y2="8056"/>
                        <a14:backgroundMark x1="26000" y1="4167" x2="26444" y2="2500"/>
                        <a14:backgroundMark x1="2889" y1="24722" x2="5556" y2="24444"/>
                        <a14:backgroundMark x1="26667" y1="1944" x2="26667" y2="1944"/>
                        <a14:backgroundMark x1="33111" y1="833" x2="33111" y2="833"/>
                        <a14:backgroundMark x1="32000" y1="0" x2="32000" y2="0"/>
                        <a14:backgroundMark x1="31111" y1="0" x2="31111" y2="0"/>
                        <a14:backgroundMark x1="26667" y1="1111" x2="26667" y2="1111"/>
                        <a14:backgroundMark x1="27556" y1="1111" x2="27556" y2="1111"/>
                        <a14:backgroundMark x1="28000" y1="278" x2="28000" y2="278"/>
                        <a14:backgroundMark x1="28889" y1="278" x2="28889" y2="278"/>
                        <a14:backgroundMark x1="29778" y1="56389" x2="29778" y2="56389"/>
                        <a14:backgroundMark x1="30667" y1="55833" x2="30667" y2="55833"/>
                        <a14:backgroundMark x1="31333" y1="55833" x2="31333" y2="55833"/>
                      </a14:backgroundRemoval>
                    </a14:imgEffect>
                  </a14:imgLayer>
                </a14:imgProps>
              </a:ext>
            </a:extLst>
          </a:blip>
          <a:stretch>
            <a:fillRect/>
          </a:stretch>
        </p:blipFill>
        <p:spPr>
          <a:xfrm>
            <a:off x="-507323" y="1879700"/>
            <a:ext cx="6036882" cy="4829506"/>
          </a:xfrm>
          <a:prstGeom prst="rect">
            <a:avLst/>
          </a:prstGeom>
        </p:spPr>
      </p:pic>
      <p:sp>
        <p:nvSpPr>
          <p:cNvPr id="16" name="Tekstvak 15">
            <a:extLst>
              <a:ext uri="{FF2B5EF4-FFF2-40B4-BE49-F238E27FC236}">
                <a16:creationId xmlns:a16="http://schemas.microsoft.com/office/drawing/2014/main" id="{F674357E-B7A2-7257-7DF4-BBE33D5FD8DE}"/>
              </a:ext>
            </a:extLst>
          </p:cNvPr>
          <p:cNvSpPr txBox="1"/>
          <p:nvPr/>
        </p:nvSpPr>
        <p:spPr>
          <a:xfrm>
            <a:off x="1595383" y="1507798"/>
            <a:ext cx="4804842" cy="523220"/>
          </a:xfrm>
          <a:prstGeom prst="rect">
            <a:avLst/>
          </a:prstGeom>
          <a:noFill/>
        </p:spPr>
        <p:txBody>
          <a:bodyPr wrap="square">
            <a:spAutoFit/>
          </a:bodyPr>
          <a:lstStyle/>
          <a:p>
            <a:pPr lvl="0"/>
            <a:r>
              <a:rPr lang="nl-NL" sz="2800" dirty="0"/>
              <a:t>1. Dataverzameling via KNMI</a:t>
            </a:r>
            <a:endParaRPr lang="en-US" sz="2800" dirty="0"/>
          </a:p>
        </p:txBody>
      </p:sp>
      <p:sp>
        <p:nvSpPr>
          <p:cNvPr id="18" name="Tekstvak 17">
            <a:extLst>
              <a:ext uri="{FF2B5EF4-FFF2-40B4-BE49-F238E27FC236}">
                <a16:creationId xmlns:a16="http://schemas.microsoft.com/office/drawing/2014/main" id="{A8598803-0560-98E0-B95D-A16A693E1A3A}"/>
              </a:ext>
            </a:extLst>
          </p:cNvPr>
          <p:cNvSpPr txBox="1"/>
          <p:nvPr/>
        </p:nvSpPr>
        <p:spPr>
          <a:xfrm>
            <a:off x="3708209" y="2174972"/>
            <a:ext cx="6814456" cy="523220"/>
          </a:xfrm>
          <a:prstGeom prst="rect">
            <a:avLst/>
          </a:prstGeom>
          <a:noFill/>
        </p:spPr>
        <p:txBody>
          <a:bodyPr wrap="square">
            <a:spAutoFit/>
          </a:bodyPr>
          <a:lstStyle/>
          <a:p>
            <a:pPr lvl="0"/>
            <a:r>
              <a:rPr lang="nl-NL" sz="2800" dirty="0"/>
              <a:t>2. Drempelwaarde per weerdata-entiteit</a:t>
            </a:r>
            <a:endParaRPr lang="en-US" sz="2800" dirty="0"/>
          </a:p>
        </p:txBody>
      </p:sp>
      <p:sp>
        <p:nvSpPr>
          <p:cNvPr id="20" name="Tekstvak 19">
            <a:extLst>
              <a:ext uri="{FF2B5EF4-FFF2-40B4-BE49-F238E27FC236}">
                <a16:creationId xmlns:a16="http://schemas.microsoft.com/office/drawing/2014/main" id="{A93FC354-4AAF-2A22-04F3-CFA7CEED1CFE}"/>
              </a:ext>
            </a:extLst>
          </p:cNvPr>
          <p:cNvSpPr txBox="1"/>
          <p:nvPr/>
        </p:nvSpPr>
        <p:spPr>
          <a:xfrm>
            <a:off x="4321437" y="3155907"/>
            <a:ext cx="6814456" cy="523220"/>
          </a:xfrm>
          <a:prstGeom prst="rect">
            <a:avLst/>
          </a:prstGeom>
          <a:noFill/>
        </p:spPr>
        <p:txBody>
          <a:bodyPr wrap="square">
            <a:spAutoFit/>
          </a:bodyPr>
          <a:lstStyle/>
          <a:p>
            <a:pPr lvl="0"/>
            <a:r>
              <a:rPr lang="en-GB" sz="2800" dirty="0"/>
              <a:t>3. </a:t>
            </a:r>
            <a:r>
              <a:rPr lang="en-GB" sz="2800" dirty="0" err="1"/>
              <a:t>Automatisch</a:t>
            </a:r>
            <a:r>
              <a:rPr lang="en-GB" sz="2800" dirty="0"/>
              <a:t> </a:t>
            </a:r>
            <a:r>
              <a:rPr lang="en-GB" sz="2800" dirty="0" err="1"/>
              <a:t>genereren</a:t>
            </a:r>
            <a:r>
              <a:rPr lang="en-GB" sz="2800" dirty="0"/>
              <a:t> van alerts</a:t>
            </a:r>
            <a:endParaRPr lang="en-US" sz="2800" dirty="0"/>
          </a:p>
        </p:txBody>
      </p:sp>
      <p:sp>
        <p:nvSpPr>
          <p:cNvPr id="22" name="Tekstvak 21">
            <a:extLst>
              <a:ext uri="{FF2B5EF4-FFF2-40B4-BE49-F238E27FC236}">
                <a16:creationId xmlns:a16="http://schemas.microsoft.com/office/drawing/2014/main" id="{931217AB-F201-F937-3BBF-3CD62291A812}"/>
              </a:ext>
            </a:extLst>
          </p:cNvPr>
          <p:cNvSpPr txBox="1"/>
          <p:nvPr/>
        </p:nvSpPr>
        <p:spPr>
          <a:xfrm>
            <a:off x="5529559" y="3890603"/>
            <a:ext cx="5922212" cy="954107"/>
          </a:xfrm>
          <a:prstGeom prst="rect">
            <a:avLst/>
          </a:prstGeom>
          <a:noFill/>
        </p:spPr>
        <p:txBody>
          <a:bodyPr wrap="square">
            <a:spAutoFit/>
          </a:bodyPr>
          <a:lstStyle/>
          <a:p>
            <a:pPr lvl="0"/>
            <a:r>
              <a:rPr lang="en-GB" sz="2800" dirty="0"/>
              <a:t>4. Dashboard </a:t>
            </a:r>
            <a:r>
              <a:rPr lang="en-GB" sz="2800" dirty="0" err="1"/>
              <a:t>voor</a:t>
            </a:r>
            <a:r>
              <a:rPr lang="en-GB" sz="2800" dirty="0"/>
              <a:t> </a:t>
            </a:r>
            <a:r>
              <a:rPr lang="en-GB" sz="2800" dirty="0" err="1"/>
              <a:t>visualisatie</a:t>
            </a:r>
            <a:r>
              <a:rPr lang="en-GB" sz="2800" dirty="0"/>
              <a:t> </a:t>
            </a:r>
            <a:r>
              <a:rPr lang="en-GB" sz="2800" dirty="0" err="1"/>
              <a:t>trajecten</a:t>
            </a:r>
            <a:r>
              <a:rPr lang="en-GB" sz="2800" dirty="0"/>
              <a:t> </a:t>
            </a:r>
            <a:r>
              <a:rPr lang="en-GB" sz="2800" dirty="0" err="1"/>
              <a:t>en</a:t>
            </a:r>
            <a:r>
              <a:rPr lang="en-GB" sz="2800" dirty="0"/>
              <a:t> </a:t>
            </a:r>
            <a:r>
              <a:rPr lang="en-GB" sz="2800" dirty="0" err="1"/>
              <a:t>risico’s</a:t>
            </a:r>
            <a:endParaRPr lang="en-US" sz="2800" dirty="0"/>
          </a:p>
        </p:txBody>
      </p:sp>
    </p:spTree>
    <p:extLst>
      <p:ext uri="{BB962C8B-B14F-4D97-AF65-F5344CB8AC3E}">
        <p14:creationId xmlns:p14="http://schemas.microsoft.com/office/powerpoint/2010/main" val="1257058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2B1A1-DFB5-4E17-17DE-2B2E8F9B2FB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C9F18E7-FE27-DFDF-B4AC-80640723D424}"/>
              </a:ext>
            </a:extLst>
          </p:cNvPr>
          <p:cNvSpPr>
            <a:spLocks noGrp="1"/>
          </p:cNvSpPr>
          <p:nvPr>
            <p:ph type="title"/>
          </p:nvPr>
        </p:nvSpPr>
        <p:spPr/>
        <p:txBody>
          <a:bodyPr/>
          <a:lstStyle/>
          <a:p>
            <a:r>
              <a:rPr lang="nl-NL" dirty="0"/>
              <a:t>Resultaten – Validatie</a:t>
            </a:r>
            <a:endParaRPr lang="en-GB" dirty="0"/>
          </a:p>
        </p:txBody>
      </p:sp>
      <p:sp>
        <p:nvSpPr>
          <p:cNvPr id="4" name="Freeform 29">
            <a:extLst>
              <a:ext uri="{FF2B5EF4-FFF2-40B4-BE49-F238E27FC236}">
                <a16:creationId xmlns:a16="http://schemas.microsoft.com/office/drawing/2014/main" id="{2B8F8553-453F-FE4E-EB71-B27793D1F288}"/>
              </a:ext>
              <a:ext uri="{C183D7F6-B498-43B3-948B-1728B52AA6E4}">
                <adec:decorative xmlns:adec="http://schemas.microsoft.com/office/drawing/2017/decorative" val="1"/>
              </a:ext>
            </a:extLst>
          </p:cNvPr>
          <p:cNvSpPr/>
          <p:nvPr/>
        </p:nvSpPr>
        <p:spPr>
          <a:xfrm flipH="1" flipV="1">
            <a:off x="-291316" y="-231076"/>
            <a:ext cx="1595657" cy="1610296"/>
          </a:xfrm>
          <a:custGeom>
            <a:avLst/>
            <a:gdLst/>
            <a:ahLst/>
            <a:cxnLst/>
            <a:rect l="l" t="t" r="r" b="b"/>
            <a:pathLst>
              <a:path w="2360735" h="2382393">
                <a:moveTo>
                  <a:pt x="2360735" y="2382392"/>
                </a:moveTo>
                <a:lnTo>
                  <a:pt x="0" y="2382392"/>
                </a:lnTo>
                <a:lnTo>
                  <a:pt x="0" y="0"/>
                </a:lnTo>
                <a:lnTo>
                  <a:pt x="2360735" y="0"/>
                </a:lnTo>
                <a:lnTo>
                  <a:pt x="2360735" y="2382392"/>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5" name="Freeform 29">
            <a:extLst>
              <a:ext uri="{FF2B5EF4-FFF2-40B4-BE49-F238E27FC236}">
                <a16:creationId xmlns:a16="http://schemas.microsoft.com/office/drawing/2014/main" id="{AC56EB73-5327-FE38-0B46-15BF1CFA3066}"/>
              </a:ext>
              <a:ext uri="{C183D7F6-B498-43B3-948B-1728B52AA6E4}">
                <adec:decorative xmlns:adec="http://schemas.microsoft.com/office/drawing/2017/decorative" val="1"/>
              </a:ext>
            </a:extLst>
          </p:cNvPr>
          <p:cNvSpPr/>
          <p:nvPr/>
        </p:nvSpPr>
        <p:spPr>
          <a:xfrm rot="10800000" flipH="1" flipV="1">
            <a:off x="10849124" y="5506752"/>
            <a:ext cx="1595657" cy="1610296"/>
          </a:xfrm>
          <a:custGeom>
            <a:avLst/>
            <a:gdLst/>
            <a:ahLst/>
            <a:cxnLst/>
            <a:rect l="l" t="t" r="r" b="b"/>
            <a:pathLst>
              <a:path w="2360735" h="2382393">
                <a:moveTo>
                  <a:pt x="2360735" y="2382392"/>
                </a:moveTo>
                <a:lnTo>
                  <a:pt x="0" y="2382392"/>
                </a:lnTo>
                <a:lnTo>
                  <a:pt x="0" y="0"/>
                </a:lnTo>
                <a:lnTo>
                  <a:pt x="2360735" y="0"/>
                </a:lnTo>
                <a:lnTo>
                  <a:pt x="2360735" y="2382392"/>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graphicFrame>
        <p:nvGraphicFramePr>
          <p:cNvPr id="30" name="Tijdelijke aanduiding voor inhoud 2">
            <a:extLst>
              <a:ext uri="{FF2B5EF4-FFF2-40B4-BE49-F238E27FC236}">
                <a16:creationId xmlns:a16="http://schemas.microsoft.com/office/drawing/2014/main" id="{644346AE-DDA1-2DC5-B89E-B331BB7ED255}"/>
              </a:ext>
            </a:extLst>
          </p:cNvPr>
          <p:cNvGraphicFramePr>
            <a:graphicFrameLocks noGrp="1"/>
          </p:cNvGraphicFramePr>
          <p:nvPr>
            <p:ph idx="1"/>
            <p:extLst>
              <p:ext uri="{D42A27DB-BD31-4B8C-83A1-F6EECF244321}">
                <p14:modId xmlns:p14="http://schemas.microsoft.com/office/powerpoint/2010/main" val="4058324570"/>
              </p:ext>
            </p:extLst>
          </p:nvPr>
        </p:nvGraphicFramePr>
        <p:xfrm>
          <a:off x="749300" y="1155413"/>
          <a:ext cx="10515600" cy="435133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110247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29CA9ECD-F482-3278-4E26-241F61A144EE}"/>
              </a:ext>
            </a:extLst>
          </p:cNvPr>
          <p:cNvPicPr>
            <a:picLocks noChangeAspect="1"/>
          </p:cNvPicPr>
          <p:nvPr/>
        </p:nvPicPr>
        <p:blipFill>
          <a:blip r:embed="rId3"/>
          <a:stretch>
            <a:fillRect/>
          </a:stretch>
        </p:blipFill>
        <p:spPr>
          <a:xfrm>
            <a:off x="385103" y="1530668"/>
            <a:ext cx="7450142" cy="5043657"/>
          </a:xfrm>
          <a:prstGeom prst="rect">
            <a:avLst/>
          </a:prstGeom>
        </p:spPr>
      </p:pic>
      <p:sp>
        <p:nvSpPr>
          <p:cNvPr id="2" name="Titel 1">
            <a:extLst>
              <a:ext uri="{FF2B5EF4-FFF2-40B4-BE49-F238E27FC236}">
                <a16:creationId xmlns:a16="http://schemas.microsoft.com/office/drawing/2014/main" id="{2B6F24D7-CECE-64B9-D31F-ABBC329E2600}"/>
              </a:ext>
            </a:extLst>
          </p:cNvPr>
          <p:cNvSpPr>
            <a:spLocks noGrp="1"/>
          </p:cNvSpPr>
          <p:nvPr>
            <p:ph type="title"/>
          </p:nvPr>
        </p:nvSpPr>
        <p:spPr/>
        <p:txBody>
          <a:bodyPr/>
          <a:lstStyle/>
          <a:p>
            <a:r>
              <a:rPr lang="nl-NL" dirty="0"/>
              <a:t>Experiment</a:t>
            </a:r>
            <a:endParaRPr lang="en-GB" dirty="0"/>
          </a:p>
        </p:txBody>
      </p:sp>
      <p:pic>
        <p:nvPicPr>
          <p:cNvPr id="10" name="Afbeelding 9" descr="Afbeelding met schets, clipart, illustratie, ontwerp&#10;&#10;Door AI gegenereerde inhoud is mogelijk onjuist.">
            <a:extLst>
              <a:ext uri="{FF2B5EF4-FFF2-40B4-BE49-F238E27FC236}">
                <a16:creationId xmlns:a16="http://schemas.microsoft.com/office/drawing/2014/main" id="{93454DAB-375A-2CFB-79A5-377646635C8D}"/>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284" b="90032" l="4967" r="44701">
                        <a14:foregroundMark x1="28356" y1="73448" x2="28356" y2="73448"/>
                        <a14:foregroundMark x1="40101" y1="72759" x2="40101" y2="72759"/>
                        <a14:foregroundMark x1="15101" y1="61034" x2="15101" y2="61034"/>
                        <a14:foregroundMark x1="23322" y1="38621" x2="23322" y2="38621"/>
                      </a14:backgroundRemoval>
                    </a14:imgEffect>
                  </a14:imgLayer>
                </a14:imgProps>
              </a:ext>
              <a:ext uri="{28A0092B-C50C-407E-A947-70E740481C1C}">
                <a14:useLocalDpi xmlns:a14="http://schemas.microsoft.com/office/drawing/2010/main" val="0"/>
              </a:ext>
            </a:extLst>
          </a:blip>
          <a:srcRect t="315" r="50333" b="-315"/>
          <a:stretch>
            <a:fillRect/>
          </a:stretch>
        </p:blipFill>
        <p:spPr>
          <a:xfrm>
            <a:off x="8287537" y="2250413"/>
            <a:ext cx="1012100" cy="991526"/>
          </a:xfrm>
          <a:prstGeom prst="rect">
            <a:avLst/>
          </a:prstGeom>
        </p:spPr>
      </p:pic>
      <p:pic>
        <p:nvPicPr>
          <p:cNvPr id="11" name="Afbeelding 10" descr="Afbeelding met schets, clipart, illustratie, ontwerp&#10;&#10;Door AI gegenereerde inhoud is mogelijk onjuist.">
            <a:extLst>
              <a:ext uri="{FF2B5EF4-FFF2-40B4-BE49-F238E27FC236}">
                <a16:creationId xmlns:a16="http://schemas.microsoft.com/office/drawing/2014/main" id="{A478B184-8F1C-5A82-13A6-31DC7AA5C727}"/>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284" b="90032" l="4967" r="44701">
                        <a14:foregroundMark x1="28356" y1="73448" x2="28356" y2="73448"/>
                        <a14:foregroundMark x1="40101" y1="72759" x2="40101" y2="72759"/>
                        <a14:foregroundMark x1="15101" y1="61034" x2="15101" y2="61034"/>
                        <a14:foregroundMark x1="23322" y1="38621" x2="23322" y2="38621"/>
                      </a14:backgroundRemoval>
                    </a14:imgEffect>
                  </a14:imgLayer>
                </a14:imgProps>
              </a:ext>
              <a:ext uri="{28A0092B-C50C-407E-A947-70E740481C1C}">
                <a14:useLocalDpi xmlns:a14="http://schemas.microsoft.com/office/drawing/2010/main" val="0"/>
              </a:ext>
            </a:extLst>
          </a:blip>
          <a:srcRect t="315" r="50333" b="-315"/>
          <a:stretch>
            <a:fillRect/>
          </a:stretch>
        </p:blipFill>
        <p:spPr>
          <a:xfrm>
            <a:off x="8287537" y="3419023"/>
            <a:ext cx="1012100" cy="991526"/>
          </a:xfrm>
          <a:prstGeom prst="rect">
            <a:avLst/>
          </a:prstGeom>
        </p:spPr>
      </p:pic>
      <p:pic>
        <p:nvPicPr>
          <p:cNvPr id="12" name="Afbeelding 11" descr="Afbeelding met schets, clipart, illustratie, ontwerp&#10;&#10;Door AI gegenereerde inhoud is mogelijk onjuist.">
            <a:extLst>
              <a:ext uri="{FF2B5EF4-FFF2-40B4-BE49-F238E27FC236}">
                <a16:creationId xmlns:a16="http://schemas.microsoft.com/office/drawing/2014/main" id="{C983F3FF-3E33-C636-7F54-DEEAA658382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284" b="90032" l="4967" r="44701">
                        <a14:foregroundMark x1="28356" y1="73448" x2="28356" y2="73448"/>
                        <a14:foregroundMark x1="40101" y1="72759" x2="40101" y2="72759"/>
                        <a14:foregroundMark x1="15101" y1="61034" x2="15101" y2="61034"/>
                        <a14:foregroundMark x1="23322" y1="38621" x2="23322" y2="38621"/>
                      </a14:backgroundRemoval>
                    </a14:imgEffect>
                  </a14:imgLayer>
                </a14:imgProps>
              </a:ext>
              <a:ext uri="{28A0092B-C50C-407E-A947-70E740481C1C}">
                <a14:useLocalDpi xmlns:a14="http://schemas.microsoft.com/office/drawing/2010/main" val="0"/>
              </a:ext>
            </a:extLst>
          </a:blip>
          <a:srcRect t="315" r="50333" b="-315"/>
          <a:stretch>
            <a:fillRect/>
          </a:stretch>
        </p:blipFill>
        <p:spPr>
          <a:xfrm>
            <a:off x="8287537" y="4587633"/>
            <a:ext cx="1012100" cy="991526"/>
          </a:xfrm>
          <a:prstGeom prst="rect">
            <a:avLst/>
          </a:prstGeom>
        </p:spPr>
      </p:pic>
      <p:pic>
        <p:nvPicPr>
          <p:cNvPr id="7" name="Afbeelding 6">
            <a:extLst>
              <a:ext uri="{FF2B5EF4-FFF2-40B4-BE49-F238E27FC236}">
                <a16:creationId xmlns:a16="http://schemas.microsoft.com/office/drawing/2014/main" id="{5ACE58D9-CD53-2B16-423B-937C10BD65AF}"/>
              </a:ext>
            </a:extLst>
          </p:cNvPr>
          <p:cNvPicPr>
            <a:picLocks noChangeAspect="1"/>
          </p:cNvPicPr>
          <p:nvPr/>
        </p:nvPicPr>
        <p:blipFill>
          <a:blip r:embed="rId6"/>
          <a:stretch>
            <a:fillRect/>
          </a:stretch>
        </p:blipFill>
        <p:spPr>
          <a:xfrm>
            <a:off x="358140" y="1530668"/>
            <a:ext cx="7564191" cy="5228272"/>
          </a:xfrm>
          <a:prstGeom prst="rect">
            <a:avLst/>
          </a:prstGeom>
        </p:spPr>
      </p:pic>
      <p:sp>
        <p:nvSpPr>
          <p:cNvPr id="13" name="Tekstvak 12">
            <a:extLst>
              <a:ext uri="{FF2B5EF4-FFF2-40B4-BE49-F238E27FC236}">
                <a16:creationId xmlns:a16="http://schemas.microsoft.com/office/drawing/2014/main" id="{B3264220-026E-7E83-7BAE-9C09A670250E}"/>
              </a:ext>
            </a:extLst>
          </p:cNvPr>
          <p:cNvSpPr txBox="1"/>
          <p:nvPr/>
        </p:nvSpPr>
        <p:spPr>
          <a:xfrm>
            <a:off x="9299637" y="2361230"/>
            <a:ext cx="2303029" cy="646331"/>
          </a:xfrm>
          <a:prstGeom prst="rect">
            <a:avLst/>
          </a:prstGeom>
          <a:noFill/>
        </p:spPr>
        <p:txBody>
          <a:bodyPr wrap="square" rtlCol="0">
            <a:spAutoFit/>
          </a:bodyPr>
          <a:lstStyle/>
          <a:p>
            <a:r>
              <a:rPr lang="nl-NL"/>
              <a:t>Routeselectie en up-to-date weerdata</a:t>
            </a:r>
            <a:endParaRPr lang="en-GB"/>
          </a:p>
        </p:txBody>
      </p:sp>
      <p:sp>
        <p:nvSpPr>
          <p:cNvPr id="14" name="Tekstvak 13">
            <a:extLst>
              <a:ext uri="{FF2B5EF4-FFF2-40B4-BE49-F238E27FC236}">
                <a16:creationId xmlns:a16="http://schemas.microsoft.com/office/drawing/2014/main" id="{5A125E33-D6CA-48E6-D51A-5CA7F81E4FEC}"/>
              </a:ext>
            </a:extLst>
          </p:cNvPr>
          <p:cNvSpPr txBox="1"/>
          <p:nvPr/>
        </p:nvSpPr>
        <p:spPr>
          <a:xfrm>
            <a:off x="9299636" y="3591620"/>
            <a:ext cx="2424950" cy="646331"/>
          </a:xfrm>
          <a:prstGeom prst="rect">
            <a:avLst/>
          </a:prstGeom>
          <a:noFill/>
        </p:spPr>
        <p:txBody>
          <a:bodyPr wrap="square" rtlCol="0">
            <a:spAutoFit/>
          </a:bodyPr>
          <a:lstStyle/>
          <a:p>
            <a:r>
              <a:rPr lang="nl-NL" dirty="0"/>
              <a:t>Real-time alerts o.b.v. drempelwaardes</a:t>
            </a:r>
            <a:endParaRPr lang="en-GB" dirty="0"/>
          </a:p>
        </p:txBody>
      </p:sp>
      <p:sp>
        <p:nvSpPr>
          <p:cNvPr id="15" name="Tekstvak 14">
            <a:extLst>
              <a:ext uri="{FF2B5EF4-FFF2-40B4-BE49-F238E27FC236}">
                <a16:creationId xmlns:a16="http://schemas.microsoft.com/office/drawing/2014/main" id="{4D7ABA15-957B-1491-2337-5366CD863BBF}"/>
              </a:ext>
            </a:extLst>
          </p:cNvPr>
          <p:cNvSpPr txBox="1"/>
          <p:nvPr/>
        </p:nvSpPr>
        <p:spPr>
          <a:xfrm>
            <a:off x="9299636" y="4583146"/>
            <a:ext cx="2661170" cy="923330"/>
          </a:xfrm>
          <a:prstGeom prst="rect">
            <a:avLst/>
          </a:prstGeom>
          <a:noFill/>
        </p:spPr>
        <p:txBody>
          <a:bodyPr wrap="square" rtlCol="0">
            <a:spAutoFit/>
          </a:bodyPr>
          <a:lstStyle/>
          <a:p>
            <a:r>
              <a:rPr lang="nl-NL" dirty="0"/>
              <a:t>Drempelwaardes instellen a.d.h.v. bedrijfsproces.</a:t>
            </a:r>
            <a:endParaRPr lang="en-GB" dirty="0"/>
          </a:p>
        </p:txBody>
      </p:sp>
      <p:pic>
        <p:nvPicPr>
          <p:cNvPr id="9" name="Afbeelding 8">
            <a:extLst>
              <a:ext uri="{FF2B5EF4-FFF2-40B4-BE49-F238E27FC236}">
                <a16:creationId xmlns:a16="http://schemas.microsoft.com/office/drawing/2014/main" id="{2FE6145B-AF96-9062-D747-C904A8B598A7}"/>
              </a:ext>
            </a:extLst>
          </p:cNvPr>
          <p:cNvPicPr>
            <a:picLocks noChangeAspect="1"/>
          </p:cNvPicPr>
          <p:nvPr/>
        </p:nvPicPr>
        <p:blipFill>
          <a:blip r:embed="rId7"/>
          <a:stretch>
            <a:fillRect/>
          </a:stretch>
        </p:blipFill>
        <p:spPr>
          <a:xfrm>
            <a:off x="347128" y="1511704"/>
            <a:ext cx="7743345" cy="5228272"/>
          </a:xfrm>
          <a:prstGeom prst="rect">
            <a:avLst/>
          </a:prstGeom>
        </p:spPr>
      </p:pic>
      <p:sp>
        <p:nvSpPr>
          <p:cNvPr id="16" name="Freeform 4">
            <a:extLst>
              <a:ext uri="{FF2B5EF4-FFF2-40B4-BE49-F238E27FC236}">
                <a16:creationId xmlns:a16="http://schemas.microsoft.com/office/drawing/2014/main" id="{589FE01E-7BD7-0DAF-2D14-44DAC364EE06}"/>
              </a:ext>
              <a:ext uri="{C183D7F6-B498-43B3-948B-1728B52AA6E4}">
                <adec:decorative xmlns:adec="http://schemas.microsoft.com/office/drawing/2017/decorative" val="1"/>
              </a:ext>
            </a:extLst>
          </p:cNvPr>
          <p:cNvSpPr/>
          <p:nvPr/>
        </p:nvSpPr>
        <p:spPr>
          <a:xfrm>
            <a:off x="11513569" y="-196029"/>
            <a:ext cx="1271839" cy="1886717"/>
          </a:xfrm>
          <a:custGeom>
            <a:avLst/>
            <a:gdLst/>
            <a:ahLst/>
            <a:cxnLst/>
            <a:rect l="l" t="t" r="r" b="b"/>
            <a:pathLst>
              <a:path w="1929159" h="2861822">
                <a:moveTo>
                  <a:pt x="0" y="0"/>
                </a:moveTo>
                <a:lnTo>
                  <a:pt x="1929159" y="0"/>
                </a:lnTo>
                <a:lnTo>
                  <a:pt x="1929159" y="2861822"/>
                </a:lnTo>
                <a:lnTo>
                  <a:pt x="0" y="286182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Tree>
    <p:extLst>
      <p:ext uri="{BB962C8B-B14F-4D97-AF65-F5344CB8AC3E}">
        <p14:creationId xmlns:p14="http://schemas.microsoft.com/office/powerpoint/2010/main" val="2746329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11"/>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2"/>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5" grpId="0"/>
      <p:bldP spid="15"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Afbeelding 4" descr="Afbeelding met schets, Symmetrie, wit, zwart-wit&#10;&#10;Door AI gegenereerde inhoud is mogelijk onjuist.">
            <a:extLst>
              <a:ext uri="{FF2B5EF4-FFF2-40B4-BE49-F238E27FC236}">
                <a16:creationId xmlns:a16="http://schemas.microsoft.com/office/drawing/2014/main" id="{636EE955-37AE-CCF9-E5C5-72361EB6CD64}"/>
              </a:ext>
            </a:extLst>
          </p:cNvPr>
          <p:cNvPicPr>
            <a:picLocks noChangeAspect="1"/>
          </p:cNvPicPr>
          <p:nvPr/>
        </p:nvPicPr>
        <p:blipFill>
          <a:blip r:embed="rId3"/>
          <a:stretch>
            <a:fillRect/>
          </a:stretch>
        </p:blipFill>
        <p:spPr>
          <a:xfrm>
            <a:off x="6506307" y="0"/>
            <a:ext cx="4572000" cy="6858000"/>
          </a:xfrm>
          <a:prstGeom prst="rect">
            <a:avLst/>
          </a:prstGeom>
        </p:spPr>
      </p:pic>
      <p:sp>
        <p:nvSpPr>
          <p:cNvPr id="2" name="Titel 1">
            <a:extLst>
              <a:ext uri="{FF2B5EF4-FFF2-40B4-BE49-F238E27FC236}">
                <a16:creationId xmlns:a16="http://schemas.microsoft.com/office/drawing/2014/main" id="{535AB23C-6D98-CBA0-C947-DBA7B69B7F68}"/>
              </a:ext>
            </a:extLst>
          </p:cNvPr>
          <p:cNvSpPr>
            <a:spLocks noGrp="1"/>
          </p:cNvSpPr>
          <p:nvPr>
            <p:ph type="title"/>
          </p:nvPr>
        </p:nvSpPr>
        <p:spPr/>
        <p:txBody>
          <a:bodyPr/>
          <a:lstStyle/>
          <a:p>
            <a:r>
              <a:rPr lang="nl-NL" dirty="0"/>
              <a:t>Conclusie</a:t>
            </a:r>
            <a:endParaRPr lang="en-GB" dirty="0"/>
          </a:p>
        </p:txBody>
      </p:sp>
      <p:sp>
        <p:nvSpPr>
          <p:cNvPr id="3" name="Tijdelijke aanduiding voor inhoud 2">
            <a:extLst>
              <a:ext uri="{FF2B5EF4-FFF2-40B4-BE49-F238E27FC236}">
                <a16:creationId xmlns:a16="http://schemas.microsoft.com/office/drawing/2014/main" id="{565670FA-0AEA-AABA-F199-6B41FE061C8E}"/>
              </a:ext>
            </a:extLst>
          </p:cNvPr>
          <p:cNvSpPr>
            <a:spLocks noGrp="1"/>
          </p:cNvSpPr>
          <p:nvPr>
            <p:ph idx="1"/>
          </p:nvPr>
        </p:nvSpPr>
        <p:spPr/>
        <p:txBody>
          <a:bodyPr/>
          <a:lstStyle/>
          <a:p>
            <a:r>
              <a:rPr lang="nl-NL" noProof="0" dirty="0"/>
              <a:t>Huidige marktpositie</a:t>
            </a:r>
          </a:p>
          <a:p>
            <a:r>
              <a:rPr lang="nl-NL" noProof="0" dirty="0"/>
              <a:t>Technologische- en marktgerichte mogelijkheden</a:t>
            </a:r>
          </a:p>
          <a:p>
            <a:r>
              <a:rPr lang="nl-NL" noProof="0" dirty="0"/>
              <a:t>Eisen en wensen</a:t>
            </a:r>
          </a:p>
          <a:p>
            <a:r>
              <a:rPr lang="nl-NL" noProof="0" dirty="0"/>
              <a:t>Match tussen mogelijkheden en eisen</a:t>
            </a:r>
          </a:p>
          <a:p>
            <a:r>
              <a:rPr lang="nl-NL" noProof="0" dirty="0"/>
              <a:t>Stappen richting </a:t>
            </a:r>
            <a:r>
              <a:rPr lang="nl-NL" noProof="0" dirty="0" err="1"/>
              <a:t>Proof</a:t>
            </a:r>
            <a:r>
              <a:rPr lang="nl-NL" noProof="0" dirty="0"/>
              <a:t> of Concept</a:t>
            </a:r>
          </a:p>
          <a:p>
            <a:endParaRPr lang="nl-NL" noProof="0" dirty="0"/>
          </a:p>
        </p:txBody>
      </p:sp>
    </p:spTree>
    <p:extLst>
      <p:ext uri="{BB962C8B-B14F-4D97-AF65-F5344CB8AC3E}">
        <p14:creationId xmlns:p14="http://schemas.microsoft.com/office/powerpoint/2010/main" val="534313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1E480D30-8F69-5B74-4EC7-6F7575E91757}"/>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400"/>
              <a:t>Vragen?</a:t>
            </a:r>
          </a:p>
        </p:txBody>
      </p:sp>
      <p:sp>
        <p:nvSpPr>
          <p:cNvPr id="29"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Tijdelijke aanduiding voor inhoud 4" descr="Afbeelding met persoon, schermopname, ontwerp&#10;&#10;Door AI gegenereerde inhoud is mogelijk onjuist.">
            <a:extLst>
              <a:ext uri="{FF2B5EF4-FFF2-40B4-BE49-F238E27FC236}">
                <a16:creationId xmlns:a16="http://schemas.microsoft.com/office/drawing/2014/main" id="{3E37844B-D0DA-5FC6-2842-E51E791E938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302"/>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632219159"/>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DBC6AE6A43A1049932D9774D50E41B3" ma:contentTypeVersion="7" ma:contentTypeDescription="Een nieuw document maken." ma:contentTypeScope="" ma:versionID="a0f94bb48351e2f0b0bd239d5b174ac3">
  <xsd:schema xmlns:xsd="http://www.w3.org/2001/XMLSchema" xmlns:xs="http://www.w3.org/2001/XMLSchema" xmlns:p="http://schemas.microsoft.com/office/2006/metadata/properties" xmlns:ns2="4120ae6f-0628-4493-8355-d7142fe09e85" targetNamespace="http://schemas.microsoft.com/office/2006/metadata/properties" ma:root="true" ma:fieldsID="62879d4f60799052921029989e9f05aa" ns2:_="">
    <xsd:import namespace="4120ae6f-0628-4493-8355-d7142fe09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20ae6f-0628-4493-8355-d7142fe09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C7F146-AE04-4DC8-9850-B0EF9B41ED3B}">
  <ds:schemaRefs>
    <ds:schemaRef ds:uri="4120ae6f-0628-4493-8355-d7142fe09e8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27EBBC9-B927-4E26-B16A-277D4267ED84}">
  <ds:schemaRefs>
    <ds:schemaRef ds:uri="http://schemas.openxmlformats.org/package/2006/metadata/core-properties"/>
    <ds:schemaRef ds:uri="http://schemas.microsoft.com/office/2006/metadata/properties"/>
    <ds:schemaRef ds:uri="http://schemas.microsoft.com/office/2006/documentManagement/types"/>
    <ds:schemaRef ds:uri="http://www.w3.org/XML/1998/namespace"/>
    <ds:schemaRef ds:uri="http://purl.org/dc/dcmitype/"/>
    <ds:schemaRef ds:uri="http://schemas.microsoft.com/office/infopath/2007/PartnerControls"/>
    <ds:schemaRef ds:uri="4120ae6f-0628-4493-8355-d7142fe09e85"/>
    <ds:schemaRef ds:uri="http://purl.org/dc/elements/1.1/"/>
    <ds:schemaRef ds:uri="http://purl.org/dc/terms/"/>
  </ds:schemaRefs>
</ds:datastoreItem>
</file>

<file path=customXml/itemProps3.xml><?xml version="1.0" encoding="utf-8"?>
<ds:datastoreItem xmlns:ds="http://schemas.openxmlformats.org/officeDocument/2006/customXml" ds:itemID="{4162AD7B-6922-4953-9BC6-6FC45D5DBC9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39</TotalTime>
  <Words>1504</Words>
  <Application>Microsoft Office PowerPoint</Application>
  <PresentationFormat>Breedbeeld</PresentationFormat>
  <Paragraphs>214</Paragraphs>
  <Slides>11</Slides>
  <Notes>10</Notes>
  <HiddenSlides>0</HiddenSlides>
  <MMClips>0</MMClips>
  <ScaleCrop>false</ScaleCrop>
  <HeadingPairs>
    <vt:vector size="6" baseType="variant">
      <vt:variant>
        <vt:lpstr>Gebruikte lettertypen</vt:lpstr>
      </vt:variant>
      <vt:variant>
        <vt:i4>5</vt:i4>
      </vt:variant>
      <vt:variant>
        <vt:lpstr>Thema</vt:lpstr>
      </vt:variant>
      <vt:variant>
        <vt:i4>1</vt:i4>
      </vt:variant>
      <vt:variant>
        <vt:lpstr>Diatitels</vt:lpstr>
      </vt:variant>
      <vt:variant>
        <vt:i4>11</vt:i4>
      </vt:variant>
    </vt:vector>
  </HeadingPairs>
  <TitlesOfParts>
    <vt:vector size="17" baseType="lpstr">
      <vt:lpstr>Aharoni</vt:lpstr>
      <vt:lpstr>Aptos</vt:lpstr>
      <vt:lpstr>Aptos Display</vt:lpstr>
      <vt:lpstr>Arial</vt:lpstr>
      <vt:lpstr>Wingdings</vt:lpstr>
      <vt:lpstr>Kantoorthema</vt:lpstr>
      <vt:lpstr>Project Network Infrastructure Development</vt:lpstr>
      <vt:lpstr>INHOUD</vt:lpstr>
      <vt:lpstr>Achtergrond</vt:lpstr>
      <vt:lpstr>Onderzoeksvragen</vt:lpstr>
      <vt:lpstr>Onderzoeksmethodiek</vt:lpstr>
      <vt:lpstr>Resultaten - Sectoranalyse</vt:lpstr>
      <vt:lpstr>Resultaten – Conceptueel Ontwerp</vt:lpstr>
      <vt:lpstr>Resultaten – Validatie</vt:lpstr>
      <vt:lpstr>Experiment</vt:lpstr>
      <vt:lpstr>Conclusie</vt:lpstr>
      <vt:lpstr>Vragen?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Witvliet (15042901)</dc:creator>
  <cp:lastModifiedBy>Thomas Witvliet (15042901)</cp:lastModifiedBy>
  <cp:revision>2</cp:revision>
  <dcterms:created xsi:type="dcterms:W3CDTF">2025-11-13T10:12:29Z</dcterms:created>
  <dcterms:modified xsi:type="dcterms:W3CDTF">2025-11-14T08:55:23Z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0x010100ADBC6AE6A43A1049932D9774D50E41B3</vt:lpwstr>
  </property>
</Properties>
</file>